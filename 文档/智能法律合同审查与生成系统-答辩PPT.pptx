
<file path=[Content_Types].xml><?xml version="1.0" encoding="utf-8"?>
<Types xmlns="http://schemas.openxmlformats.org/package/2006/content-types">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180"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尊敬的各位评委老师，下午好。我们是来自西北工业大学软件工程6组的同学。今天，我们将向大家汇报我们在四川华迪信息技术有限公司校企联合实训期间完成的毕业设计项目——“智能法律合同审查与生成系统”。本次答辩将详细介绍我们的系统设计、技术实现、难点突破以及最终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答辩将分为六个部分。首先，我将介绍项目的整体情况。接着，会详细说明每位团队成员所负责的模块。然后，将介绍我们在项目中使用的关键技术栈。之后，会分享我们遇到的主要难点及解决方案。接下来，是我们在项目过程中的一些感受和思考。最后，将通过功能演示向大家展示我们的系统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首先，让我们进入第一部分：项目介绍。在这一章，我将阐述我们项目的背景、目标、核心功能以及技术架构。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我们的项目定位是一个面向企业合同管理与法律合规场景的智能法律系统。它基于LangChain构建了创新的“RAG + Agent”双链路架构。系统具备六大核心功能：合同智能审查、标准合同生成、条款库与比对、合规性检查、智能问答以及知识库管理后台。我们采用了Python、FastAPI、Vue 3等主流技术栈。这个系统旨在解决传统合同审查中耗时、易漏检以及法律依据难溯源的核心痛点。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项目实施中，我们进行了明确的分工。郭家亨作为项目经理，负责整体规划和智能问答、知识库模块。陈俊福负责需求分析和标准合同生成模块。查文翔负责测试工作和合同智能审查模块。王琛傲负责后端接口开发和合规性检查模块。彭言锐则负责系统部署和条款库与比对模块。通过紧密协作，我们高效地完成了各自的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下面，我将详细介绍我们项目所使用的技术栈，分为前端和后端与AI两个部分。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在前端方面，我们采用了Vue 3框架，结合Vite作为构建工具，Element Plus作为UI组件库，并使用Pinia进行状态管理。我们开发了包括登录、审查工作台、生成工作台等在内的多个核心页面。交互上，我们实现了SSE流式问答输出，提升了用户体验，并通过可视化标签直观展示风险等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后端与AI部分是我们系统的核心。我们采用高性能的FastAPI框架，设计了8组清晰的路由。AI链路上，我们基于LangChain构建了RAG检索链和ReAct风格的Agent。大模型选用了DeepSeek，并通过BM25与向量召回融合的方式提升检索准确性。安全方面，我们实现了JWT鉴权和角色权限控制。整个项目通过Docker Compose实现了便捷的部署。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在开发过程中，我们遇到了不少技术挑战。接下来，我将分享我们是如何克服这些难点的。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难点是如何精准解析合同文档并按条款切分。我们通过多格式解析和正则表达式，确保了条款的完整性。第二个难点是检索的准确度。我们采用了BM25和向量召回相结合的混合检索策略，并通过RRF算法进行融合，有效解决了语义断裂问题，兼顾了精确匹配和语义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难点是控制大模型的“幻觉”。我们设计了三重约束机制，强制模型引用原文依据，并对输出进行严格校验，确保了审查结果的严谨性。第四个难点是工程兼容性问题。我们通过自动降级、可选依赖、统一规划等方式，解决了第三方库安装、资源占用和网络通信等一系列工程化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最后一个难点是在极短的工期内完成全栈系统的联调与工程化落地。我们通过先行定义接口、前后端并行开发、模块化分包等策略，高效地完成了集成工作。最终，通过Docker Compose实现了项目的一键部署，确保了系统的稳定性和可移植性。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完成这个项目后，我们每个人都有很多收获和感悟。下面我将分享三点主要的项目感受。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深刻体会到了工程规范的重要性。完善的文档、规范的数据库设计和严格的版本控制，是项目成功的基石。其次，我们建立了针对大模型应用的测试观，不仅要关注功能是否可用，更要校验输出的合法性和稳定性。最后，我们认识到团队协作和兜底意识的重要性，明确的分工和充分的准备是应对突发情况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接下来是功能演示环节。首先展示的是合同智能审查功能。用户可以上传docx或pdf格式的合同，系统会自动进行逐条审查，并生成包含风险等级、修改建议和法律依据的审查报告。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第二个演示的是标准合同生成功能。系统通过问答式界面收集合同要素，然后由大模型生成合同正文，并进行必备条款的规则自检，确保合同的完整性。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第三个功能是条款比对与合规检查。系统可以对合同的新旧版本进行条款级别的比对，并判定语义变化。同时，还能进行针对GDPR、《数据安全法》等法规的合规性检查。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最后演示的是智能问答和知识库管理功能。系统的Agent可以自主决定检索条款库或法规库，进行多轮的流式问答。管理员还可以在后台对条款和法规进行增删改查，并一键重建向量索引。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我的汇报到此结束。再次感谢各位评委老师的耐心聆听和悉心指导！我们的项目离不开学校和企业的支持，也离不开团队每一位成员的努力。谢谢大家！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 Id="rId9"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25.svg"/><Relationship Id="rId4" Type="http://schemas.openxmlformats.org/officeDocument/2006/relationships/image" Target="../media/image24.svg"/></Relationships>
</file>

<file path=ppt/slides/_rels/slide1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7.jpg"/></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9.jpg"/></Relationships>
</file>

<file path=ppt/slides/_rels/slide1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2.jpg"/></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333500" y="4445"/>
            <a:ext cx="609600" cy="2413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60400" y="4445"/>
            <a:ext cx="609600" cy="2413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4445"/>
            <a:ext cx="609600" cy="241300"/>
          </a:xfrm>
          <a:prstGeom prst="roundRect">
            <a:avLst>
              <a:gd name="adj" fmla="val 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700" y="1879600"/>
            <a:ext cx="12204700" cy="34544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343400" y="2235200"/>
            <a:ext cx="7150100" cy="27051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4000" b="0" i="0" u="none" strike="noStrike">
                <a:solidFill>
                  <a:srgbClr val="FFFFFF"/>
                </a:solidFill>
                <a:latin typeface="华康乾隆行楷 W7"/>
                <a:ea typeface="华康乾隆行楷 W7"/>
                <a:cs typeface="华康乾隆行楷 W7"/>
                <a:sym typeface="华康乾隆行楷 W7"/>
              </a:rPr>
              <a:t>智能法律合同审查与生成系统</a:t>
            </a:r>
            <a:endParaRPr lang="en-US" sz="1100"/>
          </a:p>
        </p:txBody>
      </p:sp>
      <p:sp>
        <p:nvSpPr>
          <p:cNvPr id="7" name="AutoShape 7"/>
          <p:cNvSpPr/>
          <p:nvPr/>
        </p:nvSpPr>
        <p:spPr>
          <a:xfrm>
            <a:off x="4902200" y="3479800"/>
            <a:ext cx="5346700" cy="3683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1800" b="0" i="0" u="none" strike="noStrike" dirty="0">
                <a:solidFill>
                  <a:srgbClr val="FFFFFF"/>
                </a:solidFill>
                <a:latin typeface="Arial"/>
                <a:ea typeface="Arial"/>
                <a:cs typeface="Arial"/>
                <a:sym typeface="Arial"/>
              </a:rPr>
              <a:t>Intelligent Legal Contract Review &amp; Generation System</a:t>
            </a:r>
            <a:endParaRPr lang="en-US" sz="1100" dirty="0"/>
          </a:p>
        </p:txBody>
      </p:sp>
      <p:sp>
        <p:nvSpPr>
          <p:cNvPr id="8" name="AutoShape 8"/>
          <p:cNvSpPr/>
          <p:nvPr/>
        </p:nvSpPr>
        <p:spPr>
          <a:xfrm>
            <a:off x="5740400" y="4140200"/>
            <a:ext cx="3937000" cy="1143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400" b="0" i="0" u="none" strike="noStrike" dirty="0" err="1">
                <a:solidFill>
                  <a:srgbClr val="FFFFFF"/>
                </a:solidFill>
                <a:latin typeface="微软雅黑"/>
                <a:ea typeface="微软雅黑"/>
                <a:cs typeface="微软雅黑"/>
                <a:sym typeface="微软雅黑"/>
              </a:rPr>
              <a:t>答辩学生</a:t>
            </a:r>
            <a:endParaRPr lang="en-US" sz="1100" dirty="0"/>
          </a:p>
          <a:p>
            <a:pPr marL="0" indent="0" algn="ctr">
              <a:lnSpc>
                <a:spcPct val="100000"/>
              </a:lnSpc>
            </a:pPr>
            <a:r>
              <a:rPr lang="en-US" sz="1400" b="0" i="0" u="none" strike="noStrike" dirty="0" err="1">
                <a:solidFill>
                  <a:srgbClr val="FFFFFF"/>
                </a:solidFill>
                <a:latin typeface="微软雅黑"/>
                <a:ea typeface="微软雅黑"/>
                <a:cs typeface="微软雅黑"/>
                <a:sym typeface="微软雅黑"/>
              </a:rPr>
              <a:t>郭家亨</a:t>
            </a:r>
            <a:r>
              <a:rPr lang="en-US" sz="1400" b="0" i="0" u="none" strike="noStrike" dirty="0">
                <a:solidFill>
                  <a:srgbClr val="FFFFFF"/>
                </a:solidFill>
                <a:latin typeface="微软雅黑"/>
                <a:ea typeface="微软雅黑"/>
                <a:cs typeface="微软雅黑"/>
                <a:sym typeface="微软雅黑"/>
              </a:rPr>
              <a:t> </a:t>
            </a:r>
            <a:r>
              <a:rPr lang="en-US" sz="1400" b="0" i="0" u="none" strike="noStrike" dirty="0" err="1">
                <a:solidFill>
                  <a:srgbClr val="FFFFFF"/>
                </a:solidFill>
                <a:latin typeface="微软雅黑"/>
                <a:ea typeface="微软雅黑"/>
                <a:cs typeface="微软雅黑"/>
                <a:sym typeface="微软雅黑"/>
              </a:rPr>
              <a:t>陈俊福</a:t>
            </a:r>
            <a:r>
              <a:rPr lang="en-US" sz="1400" b="0" i="0" u="none" strike="noStrike" dirty="0">
                <a:solidFill>
                  <a:srgbClr val="FFFFFF"/>
                </a:solidFill>
                <a:latin typeface="微软雅黑"/>
                <a:ea typeface="微软雅黑"/>
                <a:cs typeface="微软雅黑"/>
                <a:sym typeface="微软雅黑"/>
              </a:rPr>
              <a:t> </a:t>
            </a:r>
            <a:r>
              <a:rPr lang="en-US" sz="1400" b="0" i="0" u="none" strike="noStrike" dirty="0" err="1">
                <a:solidFill>
                  <a:srgbClr val="FFFFFF"/>
                </a:solidFill>
                <a:latin typeface="微软雅黑"/>
                <a:ea typeface="微软雅黑"/>
                <a:cs typeface="微软雅黑"/>
                <a:sym typeface="微软雅黑"/>
              </a:rPr>
              <a:t>查文翔</a:t>
            </a:r>
            <a:endParaRPr lang="en-US" sz="1400" b="0" i="0" u="none" strike="noStrike" dirty="0">
              <a:solidFill>
                <a:srgbClr val="FFFFFF"/>
              </a:solidFill>
              <a:latin typeface="微软雅黑"/>
              <a:ea typeface="微软雅黑"/>
              <a:cs typeface="微软雅黑"/>
              <a:sym typeface="微软雅黑"/>
            </a:endParaRPr>
          </a:p>
          <a:p>
            <a:pPr marL="0" indent="0" algn="ctr">
              <a:lnSpc>
                <a:spcPct val="100000"/>
              </a:lnSpc>
            </a:pPr>
            <a:r>
              <a:rPr lang="en-US" sz="1400" b="0" i="0" u="none" strike="noStrike" dirty="0" err="1">
                <a:solidFill>
                  <a:srgbClr val="FFFFFF"/>
                </a:solidFill>
                <a:latin typeface="微软雅黑"/>
                <a:ea typeface="微软雅黑"/>
                <a:cs typeface="微软雅黑"/>
                <a:sym typeface="微软雅黑"/>
              </a:rPr>
              <a:t>王琛傲</a:t>
            </a:r>
            <a:r>
              <a:rPr lang="en-US" sz="1400" b="0" i="0" u="none" strike="noStrike" dirty="0">
                <a:solidFill>
                  <a:srgbClr val="FFFFFF"/>
                </a:solidFill>
                <a:latin typeface="微软雅黑"/>
                <a:ea typeface="微软雅黑"/>
                <a:cs typeface="微软雅黑"/>
                <a:sym typeface="微软雅黑"/>
              </a:rPr>
              <a:t> 彭言锐</a:t>
            </a:r>
          </a:p>
          <a:p>
            <a:pPr marL="0" indent="0" algn="ctr">
              <a:lnSpc>
                <a:spcPct val="100000"/>
              </a:lnSpc>
            </a:pPr>
            <a:r>
              <a:rPr lang="en-US" sz="1400" b="0" i="0" u="none" strike="noStrike" dirty="0" err="1">
                <a:solidFill>
                  <a:srgbClr val="FFFFFF"/>
                </a:solidFill>
                <a:latin typeface="微软雅黑"/>
                <a:ea typeface="微软雅黑"/>
                <a:cs typeface="微软雅黑"/>
                <a:sym typeface="微软雅黑"/>
              </a:rPr>
              <a:t>指导老师</a:t>
            </a:r>
            <a:r>
              <a:rPr lang="en-US" sz="1400" b="0" i="0" u="none" strike="noStrike" dirty="0">
                <a:solidFill>
                  <a:srgbClr val="FFFFFF"/>
                </a:solidFill>
                <a:latin typeface="微软雅黑"/>
                <a:ea typeface="微软雅黑"/>
                <a:cs typeface="微软雅黑"/>
                <a:sym typeface="微软雅黑"/>
              </a:rPr>
              <a:t>：</a:t>
            </a:r>
            <a:r>
              <a:rPr lang="zh-CN" altLang="en-US" sz="1400" b="0" i="0" u="none" strike="noStrike" dirty="0">
                <a:solidFill>
                  <a:srgbClr val="FFFFFF"/>
                </a:solidFill>
                <a:latin typeface="微软雅黑"/>
                <a:ea typeface="微软雅黑"/>
                <a:cs typeface="微软雅黑"/>
                <a:sym typeface="微软雅黑"/>
              </a:rPr>
              <a:t>首鹏</a:t>
            </a:r>
            <a:endParaRPr lang="en-US" sz="1400" b="0" i="0" u="none" strike="noStrike" dirty="0">
              <a:solidFill>
                <a:srgbClr val="FFFFFF"/>
              </a:solidFill>
              <a:latin typeface="微软雅黑"/>
              <a:ea typeface="微软雅黑"/>
              <a:cs typeface="微软雅黑"/>
              <a:sym typeface="微软雅黑"/>
            </a:endParaRPr>
          </a:p>
        </p:txBody>
      </p:sp>
      <p:sp>
        <p:nvSpPr>
          <p:cNvPr id="9" name="AutoShape 9"/>
          <p:cNvSpPr/>
          <p:nvPr/>
        </p:nvSpPr>
        <p:spPr>
          <a:xfrm>
            <a:off x="5689600" y="4102100"/>
            <a:ext cx="4064000" cy="1181100"/>
          </a:xfrm>
          <a:prstGeom prst="roundRect">
            <a:avLst>
              <a:gd name="adj" fmla="val 16129"/>
            </a:avLst>
          </a:prstGeom>
          <a:noFill/>
          <a:ln w="12700" cap="flat" cmpd="sng">
            <a:solidFill>
              <a:srgbClr val="FFFFFF">
                <a:alpha val="100000"/>
              </a:srgbClr>
            </a:solidFill>
            <a:prstDash val="solid"/>
            <a:miter lim="1000000"/>
          </a:ln>
        </p:spPr>
        <p:txBody>
          <a:bodyPr vert="horz" wrap="square" lIns="63500" tIns="63500" rIns="63500" bIns="63500" rtlCol="0" anchor="ctr"/>
          <a:lstStyle/>
          <a:p>
            <a:pPr algn="ctr">
              <a:defRPr/>
            </a:pPr>
            <a:endParaRPr/>
          </a:p>
        </p:txBody>
      </p:sp>
      <p:sp>
        <p:nvSpPr>
          <p:cNvPr id="10" name="AutoShape 10"/>
          <p:cNvSpPr/>
          <p:nvPr/>
        </p:nvSpPr>
        <p:spPr>
          <a:xfrm>
            <a:off x="9715500" y="6210300"/>
            <a:ext cx="2286000" cy="3048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1400" b="0" i="0" u="none" strike="noStrike">
                <a:solidFill>
                  <a:srgbClr val="665C8A"/>
                </a:solidFill>
                <a:latin typeface="微软雅黑"/>
                <a:ea typeface="微软雅黑"/>
                <a:cs typeface="微软雅黑"/>
                <a:sym typeface="微软雅黑"/>
              </a:rPr>
              <a:t>软件工程6组 | 华迪实训</a:t>
            </a:r>
            <a:endParaRPr lang="en-US" sz="1100"/>
          </a:p>
        </p:txBody>
      </p:sp>
      <p:sp>
        <p:nvSpPr>
          <p:cNvPr id="11" name="AutoShape 11"/>
          <p:cNvSpPr/>
          <p:nvPr/>
        </p:nvSpPr>
        <p:spPr>
          <a:xfrm>
            <a:off x="8394700" y="6743700"/>
            <a:ext cx="3822700" cy="1270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191000" y="6743700"/>
            <a:ext cx="3822700" cy="1270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2700" y="6743700"/>
            <a:ext cx="3822700" cy="127000"/>
          </a:xfrm>
          <a:prstGeom prst="roundRect">
            <a:avLst>
              <a:gd name="adj" fmla="val 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016000" y="2108200"/>
            <a:ext cx="2997200" cy="2997200"/>
          </a:xfrm>
          <a:prstGeom prst="ellipse">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8100" y="2374900"/>
            <a:ext cx="2425700" cy="2425700"/>
          </a:xfrm>
          <a:prstGeom prst="rect">
            <a:avLst/>
          </a:prstGeom>
        </p:spPr>
      </p:pic>
      <p:sp>
        <p:nvSpPr>
          <p:cNvPr id="16" name="AutoShape 16"/>
          <p:cNvSpPr/>
          <p:nvPr/>
        </p:nvSpPr>
        <p:spPr>
          <a:xfrm>
            <a:off x="508000" y="342900"/>
            <a:ext cx="1651000" cy="342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dist">
              <a:lnSpc>
                <a:spcPct val="100000"/>
              </a:lnSpc>
              <a:defRPr/>
            </a:pPr>
            <a:r>
              <a:rPr lang="en-US" sz="1600" b="0" i="0" u="none" strike="noStrike">
                <a:solidFill>
                  <a:srgbClr val="665C8A"/>
                </a:solidFill>
                <a:latin typeface="微软雅黑"/>
                <a:ea typeface="微软雅黑"/>
                <a:cs typeface="微软雅黑"/>
                <a:sym typeface="微软雅黑"/>
              </a:rPr>
              <a:t>校企联合实训</a:t>
            </a:r>
            <a:endParaRPr lang="en-US" sz="1100"/>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 y="266700"/>
            <a:ext cx="419100" cy="419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4C3BAC">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0" y="5080000"/>
            <a:ext cx="3810000" cy="3810000"/>
          </a:xfrm>
          <a:prstGeom prst="ellipse">
            <a:avLst/>
          </a:prstGeom>
          <a:solidFill>
            <a:srgbClr val="4C3BAC">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508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4C3BAC"/>
                </a:solidFill>
                <a:latin typeface="Noto Sans SC"/>
                <a:ea typeface="Noto Sans SC"/>
                <a:cs typeface="Noto Sans SC"/>
                <a:sym typeface="Noto Sans SC"/>
              </a:rPr>
              <a:t>目录</a:t>
            </a:r>
            <a:r>
              <a:rPr lang="en-US" sz="1600" b="0" i="0" u="none" strike="noStrike">
                <a:solidFill>
                  <a:srgbClr val="1F2329"/>
                </a:solidFill>
                <a:latin typeface="Noto Sans SC"/>
                <a:ea typeface="Noto Sans SC"/>
                <a:cs typeface="Noto Sans SC"/>
                <a:sym typeface="Noto Sans SC"/>
              </a:rPr>
              <a:t> </a:t>
            </a:r>
            <a:r>
              <a:rPr lang="en-US" sz="2000" b="0" i="0" u="none" strike="noStrike">
                <a:solidFill>
                  <a:srgbClr val="969696"/>
                </a:solidFill>
                <a:latin typeface="Arial"/>
                <a:ea typeface="Arial"/>
                <a:cs typeface="Arial"/>
                <a:sym typeface="Arial"/>
              </a:rPr>
              <a:t>CONTENTS</a:t>
            </a:r>
            <a:endParaRPr lang="en-US" sz="1100"/>
          </a:p>
        </p:txBody>
      </p:sp>
      <p:sp>
        <p:nvSpPr>
          <p:cNvPr id="5" name="AutoShape 5"/>
          <p:cNvSpPr/>
          <p:nvPr/>
        </p:nvSpPr>
        <p:spPr>
          <a:xfrm>
            <a:off x="571500" y="1905000"/>
            <a:ext cx="3556000" cy="1714500"/>
          </a:xfrm>
          <a:prstGeom prst="roundRect">
            <a:avLst>
              <a:gd name="adj" fmla="val 0"/>
            </a:avLst>
          </a:prstGeom>
          <a:solidFill>
            <a:srgbClr val="EBE8FF">
              <a:alpha val="60000"/>
            </a:srgbClr>
          </a:solidFill>
          <a:ln w="12700" cap="flat" cmpd="sng">
            <a:solidFill>
              <a:srgbClr val="4C3BAC">
                <a:alpha val="15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5500" y="2159000"/>
            <a:ext cx="406400" cy="406400"/>
          </a:xfrm>
          <a:prstGeom prst="rect">
            <a:avLst/>
          </a:prstGeom>
        </p:spPr>
      </p:pic>
      <p:sp>
        <p:nvSpPr>
          <p:cNvPr id="7" name="AutoShape 7"/>
          <p:cNvSpPr/>
          <p:nvPr/>
        </p:nvSpPr>
        <p:spPr>
          <a:xfrm>
            <a:off x="1397000" y="2159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C3BAC">
                    <a:alpha val="20000"/>
                  </a:srgbClr>
                </a:solidFill>
                <a:latin typeface="Noto Sans SC"/>
                <a:ea typeface="Noto Sans SC"/>
                <a:cs typeface="Noto Sans SC"/>
                <a:sym typeface="Noto Sans SC"/>
              </a:rPr>
              <a:t>01</a:t>
            </a:r>
            <a:endParaRPr lang="en-US" sz="1100"/>
          </a:p>
        </p:txBody>
      </p:sp>
      <p:sp>
        <p:nvSpPr>
          <p:cNvPr id="8" name="AutoShape 8"/>
          <p:cNvSpPr/>
          <p:nvPr/>
        </p:nvSpPr>
        <p:spPr>
          <a:xfrm>
            <a:off x="825500" y="2730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a:ea typeface="Noto Sans SC"/>
                <a:cs typeface="Noto Sans SC"/>
                <a:sym typeface="Noto Sans SC"/>
              </a:rPr>
              <a:t>项目介绍</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66666"/>
                </a:solidFill>
                <a:latin typeface="Arial"/>
                <a:ea typeface="Arial"/>
                <a:cs typeface="Arial"/>
                <a:sym typeface="Arial"/>
              </a:rPr>
              <a:t>Project Introduction</a:t>
            </a:r>
            <a:endParaRPr lang="en-US" sz="1100"/>
          </a:p>
        </p:txBody>
      </p:sp>
      <p:sp>
        <p:nvSpPr>
          <p:cNvPr id="9" name="AutoShape 9"/>
          <p:cNvSpPr/>
          <p:nvPr/>
        </p:nvSpPr>
        <p:spPr>
          <a:xfrm>
            <a:off x="4318000" y="1905000"/>
            <a:ext cx="3556000" cy="1714500"/>
          </a:xfrm>
          <a:prstGeom prst="roundRect">
            <a:avLst>
              <a:gd name="adj" fmla="val 0"/>
            </a:avLst>
          </a:prstGeom>
          <a:solidFill>
            <a:srgbClr val="EBE8FF">
              <a:alpha val="60000"/>
            </a:srgbClr>
          </a:solidFill>
          <a:ln w="12700" cap="flat" cmpd="sng">
            <a:solidFill>
              <a:srgbClr val="4C3BAC">
                <a:alpha val="15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2159000"/>
            <a:ext cx="406400" cy="406400"/>
          </a:xfrm>
          <a:prstGeom prst="rect">
            <a:avLst/>
          </a:prstGeom>
        </p:spPr>
      </p:pic>
      <p:sp>
        <p:nvSpPr>
          <p:cNvPr id="11" name="AutoShape 11"/>
          <p:cNvSpPr/>
          <p:nvPr/>
        </p:nvSpPr>
        <p:spPr>
          <a:xfrm>
            <a:off x="5143500" y="2159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C3BAC">
                    <a:alpha val="20000"/>
                  </a:srgbClr>
                </a:solidFill>
                <a:latin typeface="Noto Sans SC"/>
                <a:ea typeface="Noto Sans SC"/>
                <a:cs typeface="Noto Sans SC"/>
                <a:sym typeface="Noto Sans SC"/>
              </a:rPr>
              <a:t>02</a:t>
            </a:r>
            <a:endParaRPr lang="en-US" sz="1100"/>
          </a:p>
        </p:txBody>
      </p:sp>
      <p:sp>
        <p:nvSpPr>
          <p:cNvPr id="12" name="AutoShape 12"/>
          <p:cNvSpPr/>
          <p:nvPr/>
        </p:nvSpPr>
        <p:spPr>
          <a:xfrm>
            <a:off x="4572000" y="2730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a:ea typeface="Noto Sans SC"/>
                <a:cs typeface="Noto Sans SC"/>
                <a:sym typeface="Noto Sans SC"/>
              </a:rPr>
              <a:t>各成员完成模块</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66666"/>
                </a:solidFill>
                <a:latin typeface="Arial"/>
                <a:ea typeface="Arial"/>
                <a:cs typeface="Arial"/>
                <a:sym typeface="Arial"/>
              </a:rPr>
              <a:t>Module Allocation</a:t>
            </a:r>
            <a:endParaRPr lang="en-US" sz="1100"/>
          </a:p>
        </p:txBody>
      </p:sp>
      <p:sp>
        <p:nvSpPr>
          <p:cNvPr id="13" name="AutoShape 13"/>
          <p:cNvSpPr/>
          <p:nvPr/>
        </p:nvSpPr>
        <p:spPr>
          <a:xfrm>
            <a:off x="8064500" y="1905000"/>
            <a:ext cx="3556000" cy="1714500"/>
          </a:xfrm>
          <a:prstGeom prst="roundRect">
            <a:avLst>
              <a:gd name="adj" fmla="val 0"/>
            </a:avLst>
          </a:prstGeom>
          <a:solidFill>
            <a:srgbClr val="EBE8FF">
              <a:alpha val="60000"/>
            </a:srgbClr>
          </a:solidFill>
          <a:ln w="12700" cap="flat" cmpd="sng">
            <a:solidFill>
              <a:srgbClr val="4C3BAC">
                <a:alpha val="15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8500" y="2159000"/>
            <a:ext cx="406400" cy="406400"/>
          </a:xfrm>
          <a:prstGeom prst="rect">
            <a:avLst/>
          </a:prstGeom>
        </p:spPr>
      </p:pic>
      <p:sp>
        <p:nvSpPr>
          <p:cNvPr id="15" name="AutoShape 15"/>
          <p:cNvSpPr/>
          <p:nvPr/>
        </p:nvSpPr>
        <p:spPr>
          <a:xfrm>
            <a:off x="8890000" y="2159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C3BAC">
                    <a:alpha val="20000"/>
                  </a:srgbClr>
                </a:solidFill>
                <a:latin typeface="Noto Sans SC"/>
                <a:ea typeface="Noto Sans SC"/>
                <a:cs typeface="Noto Sans SC"/>
                <a:sym typeface="Noto Sans SC"/>
              </a:rPr>
              <a:t>03</a:t>
            </a:r>
            <a:endParaRPr lang="en-US" sz="1100"/>
          </a:p>
        </p:txBody>
      </p:sp>
      <p:sp>
        <p:nvSpPr>
          <p:cNvPr id="16" name="AutoShape 16"/>
          <p:cNvSpPr/>
          <p:nvPr/>
        </p:nvSpPr>
        <p:spPr>
          <a:xfrm>
            <a:off x="8318500" y="2730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a:ea typeface="Noto Sans SC"/>
                <a:cs typeface="Noto Sans SC"/>
                <a:sym typeface="Noto Sans SC"/>
              </a:rPr>
              <a:t>所用技术</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66666"/>
                </a:solidFill>
                <a:latin typeface="Arial"/>
                <a:ea typeface="Arial"/>
                <a:cs typeface="Arial"/>
                <a:sym typeface="Arial"/>
              </a:rPr>
              <a:t>Technology Stack</a:t>
            </a:r>
            <a:endParaRPr lang="en-US" sz="1100"/>
          </a:p>
        </p:txBody>
      </p:sp>
      <p:sp>
        <p:nvSpPr>
          <p:cNvPr id="17" name="AutoShape 17"/>
          <p:cNvSpPr/>
          <p:nvPr/>
        </p:nvSpPr>
        <p:spPr>
          <a:xfrm>
            <a:off x="571500" y="4064000"/>
            <a:ext cx="3556000" cy="1714500"/>
          </a:xfrm>
          <a:prstGeom prst="roundRect">
            <a:avLst>
              <a:gd name="adj" fmla="val 0"/>
            </a:avLst>
          </a:prstGeom>
          <a:solidFill>
            <a:srgbClr val="EBE8FF">
              <a:alpha val="60000"/>
            </a:srgbClr>
          </a:solidFill>
          <a:ln w="12700" cap="flat" cmpd="sng">
            <a:solidFill>
              <a:srgbClr val="4C3BAC">
                <a:alpha val="15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 y="4318000"/>
            <a:ext cx="406400" cy="406400"/>
          </a:xfrm>
          <a:prstGeom prst="rect">
            <a:avLst/>
          </a:prstGeom>
        </p:spPr>
      </p:pic>
      <p:sp>
        <p:nvSpPr>
          <p:cNvPr id="19" name="AutoShape 19"/>
          <p:cNvSpPr/>
          <p:nvPr/>
        </p:nvSpPr>
        <p:spPr>
          <a:xfrm>
            <a:off x="1397000" y="431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C3BAC">
                    <a:alpha val="20000"/>
                  </a:srgbClr>
                </a:solidFill>
                <a:latin typeface="Noto Sans SC"/>
                <a:ea typeface="Noto Sans SC"/>
                <a:cs typeface="Noto Sans SC"/>
                <a:sym typeface="Noto Sans SC"/>
              </a:rPr>
              <a:t>04</a:t>
            </a:r>
            <a:endParaRPr lang="en-US" sz="1100"/>
          </a:p>
        </p:txBody>
      </p:sp>
      <p:sp>
        <p:nvSpPr>
          <p:cNvPr id="20" name="AutoShape 20"/>
          <p:cNvSpPr/>
          <p:nvPr/>
        </p:nvSpPr>
        <p:spPr>
          <a:xfrm>
            <a:off x="825500" y="4889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a:ea typeface="Noto Sans SC"/>
                <a:cs typeface="Noto Sans SC"/>
                <a:sym typeface="Noto Sans SC"/>
              </a:rPr>
              <a:t>难点突破</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66666"/>
                </a:solidFill>
                <a:latin typeface="Arial"/>
                <a:ea typeface="Arial"/>
                <a:cs typeface="Arial"/>
                <a:sym typeface="Arial"/>
              </a:rPr>
              <a:t>Key Breakthroughs</a:t>
            </a:r>
            <a:endParaRPr lang="en-US" sz="1100"/>
          </a:p>
        </p:txBody>
      </p:sp>
      <p:sp>
        <p:nvSpPr>
          <p:cNvPr id="21" name="AutoShape 21"/>
          <p:cNvSpPr/>
          <p:nvPr/>
        </p:nvSpPr>
        <p:spPr>
          <a:xfrm>
            <a:off x="4318000" y="4064000"/>
            <a:ext cx="3556000" cy="1714500"/>
          </a:xfrm>
          <a:prstGeom prst="roundRect">
            <a:avLst>
              <a:gd name="adj" fmla="val 0"/>
            </a:avLst>
          </a:prstGeom>
          <a:solidFill>
            <a:srgbClr val="EBE8FF">
              <a:alpha val="60000"/>
            </a:srgbClr>
          </a:solidFill>
          <a:ln w="12700" cap="flat" cmpd="sng">
            <a:solidFill>
              <a:srgbClr val="4C3BAC">
                <a:alpha val="15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4318000"/>
            <a:ext cx="406400" cy="406400"/>
          </a:xfrm>
          <a:prstGeom prst="rect">
            <a:avLst/>
          </a:prstGeom>
        </p:spPr>
      </p:pic>
      <p:sp>
        <p:nvSpPr>
          <p:cNvPr id="23" name="AutoShape 23"/>
          <p:cNvSpPr/>
          <p:nvPr/>
        </p:nvSpPr>
        <p:spPr>
          <a:xfrm>
            <a:off x="5143500" y="431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C3BAC">
                    <a:alpha val="20000"/>
                  </a:srgbClr>
                </a:solidFill>
                <a:latin typeface="Noto Sans SC"/>
                <a:ea typeface="Noto Sans SC"/>
                <a:cs typeface="Noto Sans SC"/>
                <a:sym typeface="Noto Sans SC"/>
              </a:rPr>
              <a:t>05</a:t>
            </a:r>
            <a:endParaRPr lang="en-US" sz="1100"/>
          </a:p>
        </p:txBody>
      </p:sp>
      <p:sp>
        <p:nvSpPr>
          <p:cNvPr id="24" name="AutoShape 24"/>
          <p:cNvSpPr/>
          <p:nvPr/>
        </p:nvSpPr>
        <p:spPr>
          <a:xfrm>
            <a:off x="4572000" y="4889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a:ea typeface="Noto Sans SC"/>
                <a:cs typeface="Noto Sans SC"/>
                <a:sym typeface="Noto Sans SC"/>
              </a:rPr>
              <a:t>项目感受</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66666"/>
                </a:solidFill>
                <a:latin typeface="Arial"/>
                <a:ea typeface="Arial"/>
                <a:cs typeface="Arial"/>
                <a:sym typeface="Arial"/>
              </a:rPr>
              <a:t>Project Insights</a:t>
            </a:r>
            <a:endParaRPr lang="en-US" sz="1100"/>
          </a:p>
        </p:txBody>
      </p:sp>
      <p:sp>
        <p:nvSpPr>
          <p:cNvPr id="25" name="AutoShape 25"/>
          <p:cNvSpPr/>
          <p:nvPr/>
        </p:nvSpPr>
        <p:spPr>
          <a:xfrm>
            <a:off x="8064500" y="4064000"/>
            <a:ext cx="3556000" cy="1714500"/>
          </a:xfrm>
          <a:prstGeom prst="roundRect">
            <a:avLst>
              <a:gd name="adj" fmla="val 0"/>
            </a:avLst>
          </a:prstGeom>
          <a:solidFill>
            <a:srgbClr val="EBE8FF">
              <a:alpha val="60000"/>
            </a:srgbClr>
          </a:solidFill>
          <a:ln w="12700" cap="flat" cmpd="sng">
            <a:solidFill>
              <a:srgbClr val="4C3BAC">
                <a:alpha val="15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18500" y="4318000"/>
            <a:ext cx="406400" cy="406400"/>
          </a:xfrm>
          <a:prstGeom prst="rect">
            <a:avLst/>
          </a:prstGeom>
        </p:spPr>
      </p:pic>
      <p:sp>
        <p:nvSpPr>
          <p:cNvPr id="27" name="AutoShape 27"/>
          <p:cNvSpPr/>
          <p:nvPr/>
        </p:nvSpPr>
        <p:spPr>
          <a:xfrm>
            <a:off x="8890000" y="431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C3BAC">
                    <a:alpha val="20000"/>
                  </a:srgbClr>
                </a:solidFill>
                <a:latin typeface="Noto Sans SC"/>
                <a:ea typeface="Noto Sans SC"/>
                <a:cs typeface="Noto Sans SC"/>
                <a:sym typeface="Noto Sans SC"/>
              </a:rPr>
              <a:t>06</a:t>
            </a:r>
            <a:endParaRPr lang="en-US" sz="1100"/>
          </a:p>
        </p:txBody>
      </p:sp>
      <p:sp>
        <p:nvSpPr>
          <p:cNvPr id="28" name="AutoShape 28"/>
          <p:cNvSpPr/>
          <p:nvPr/>
        </p:nvSpPr>
        <p:spPr>
          <a:xfrm>
            <a:off x="8318500" y="4889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a:ea typeface="Noto Sans SC"/>
                <a:cs typeface="Noto Sans SC"/>
                <a:sym typeface="Noto Sans SC"/>
              </a:rPr>
              <a:t>功能演示</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66666"/>
                </a:solidFill>
                <a:latin typeface="Arial"/>
                <a:ea typeface="Arial"/>
                <a:cs typeface="Arial"/>
                <a:sym typeface="Arial"/>
              </a:rPr>
              <a:t>System Demo</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 y="4191000"/>
            <a:ext cx="12217400" cy="14097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4483100" y="2197100"/>
            <a:ext cx="5422900" cy="26797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362200" y="2197100"/>
            <a:ext cx="1968500" cy="2679700"/>
          </a:xfrm>
          <a:prstGeom prst="roundRect">
            <a:avLst>
              <a:gd name="adj" fmla="val 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V="1">
            <a:off x="2717800" y="2997200"/>
            <a:ext cx="1244600" cy="1231900"/>
          </a:xfrm>
          <a:prstGeom prst="rect">
            <a:avLst/>
          </a:prstGeom>
        </p:spPr>
      </p:pic>
      <p:sp>
        <p:nvSpPr>
          <p:cNvPr id="6" name="AutoShape 6"/>
          <p:cNvSpPr/>
          <p:nvPr/>
        </p:nvSpPr>
        <p:spPr>
          <a:xfrm>
            <a:off x="4851400" y="2882900"/>
            <a:ext cx="2209800" cy="711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4000" b="0" i="0" u="none" strike="noStrike">
                <a:solidFill>
                  <a:srgbClr val="FFFFFF"/>
                </a:solidFill>
                <a:latin typeface="华康乾隆行楷 W7"/>
                <a:ea typeface="华康乾隆行楷 W7"/>
                <a:cs typeface="华康乾隆行楷 W7"/>
                <a:sym typeface="华康乾隆行楷 W7"/>
              </a:rPr>
              <a:t>项目介绍</a:t>
            </a:r>
            <a:endParaRPr lang="en-US" sz="1100"/>
          </a:p>
        </p:txBody>
      </p:sp>
      <p:sp>
        <p:nvSpPr>
          <p:cNvPr id="7" name="AutoShape 7"/>
          <p:cNvSpPr/>
          <p:nvPr/>
        </p:nvSpPr>
        <p:spPr>
          <a:xfrm>
            <a:off x="4940300" y="3606800"/>
            <a:ext cx="2209800" cy="584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1600" b="0" i="0" u="none" strike="noStrike">
                <a:solidFill>
                  <a:srgbClr val="FFFFFF"/>
                </a:solidFill>
                <a:latin typeface="Noto Sans SC"/>
                <a:ea typeface="Noto Sans SC"/>
                <a:cs typeface="Noto Sans SC"/>
                <a:sym typeface="Noto Sans SC"/>
              </a:rPr>
              <a:t>Project Introduction</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080000"/>
            <a:ext cx="2540000" cy="254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E3A8A"/>
                </a:solidFill>
                <a:latin typeface="Noto Sans SC"/>
                <a:ea typeface="Noto Sans SC"/>
                <a:cs typeface="Noto Sans SC"/>
                <a:sym typeface="Noto Sans SC"/>
              </a:rPr>
              <a:t>项目介绍</a:t>
            </a:r>
            <a:endParaRPr lang="en-US" sz="1100"/>
          </a:p>
        </p:txBody>
      </p:sp>
      <p:sp>
        <p:nvSpPr>
          <p:cNvPr id="5" name="AutoShape 5"/>
          <p:cNvSpPr/>
          <p:nvPr/>
        </p:nvSpPr>
        <p:spPr>
          <a:xfrm>
            <a:off x="508000" y="1143000"/>
            <a:ext cx="1117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6B7280"/>
                </a:solidFill>
                <a:latin typeface="Arial"/>
                <a:ea typeface="Arial"/>
                <a:cs typeface="Arial"/>
                <a:sym typeface="Arial"/>
              </a:rPr>
              <a:t>Project Introduction</a:t>
            </a:r>
            <a:endParaRPr lang="en-US" sz="1100"/>
          </a:p>
        </p:txBody>
      </p:sp>
      <p:sp>
        <p:nvSpPr>
          <p:cNvPr id="6" name="AutoShape 6"/>
          <p:cNvSpPr/>
          <p:nvPr/>
        </p:nvSpPr>
        <p:spPr>
          <a:xfrm>
            <a:off x="508000" y="1905000"/>
            <a:ext cx="3556000" cy="43180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08000" y="1905000"/>
            <a:ext cx="3556000" cy="508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2286000"/>
            <a:ext cx="812800" cy="812800"/>
          </a:xfrm>
          <a:prstGeom prst="rect">
            <a:avLst/>
          </a:prstGeom>
        </p:spPr>
      </p:pic>
      <p:sp>
        <p:nvSpPr>
          <p:cNvPr id="9" name="AutoShape 9"/>
          <p:cNvSpPr/>
          <p:nvPr/>
        </p:nvSpPr>
        <p:spPr>
          <a:xfrm>
            <a:off x="762000" y="3238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3A8A"/>
                </a:solidFill>
                <a:latin typeface="Noto Sans SC"/>
                <a:ea typeface="Noto Sans SC"/>
                <a:cs typeface="Noto Sans SC"/>
                <a:sym typeface="Noto Sans SC"/>
              </a:rPr>
              <a:t>智能法律合规系统</a:t>
            </a:r>
            <a:endParaRPr lang="en-US" sz="1100"/>
          </a:p>
        </p:txBody>
      </p:sp>
      <p:sp>
        <p:nvSpPr>
          <p:cNvPr id="10" name="AutoShape 10"/>
          <p:cNvSpPr/>
          <p:nvPr/>
        </p:nvSpPr>
        <p:spPr>
          <a:xfrm>
            <a:off x="762000" y="3937000"/>
            <a:ext cx="3048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基于 LangChain 构建「RAG + Agent」双链路架构，专为企业合同管理与法律合规场景打造。实现从合同审查、生成到合规监测的全流程智能化，赋能企业降本增效。</a:t>
            </a:r>
            <a:endParaRPr lang="en-US" sz="1100"/>
          </a:p>
        </p:txBody>
      </p:sp>
      <p:sp>
        <p:nvSpPr>
          <p:cNvPr id="11" name="AutoShape 11"/>
          <p:cNvSpPr/>
          <p:nvPr/>
        </p:nvSpPr>
        <p:spPr>
          <a:xfrm>
            <a:off x="4445000" y="1905000"/>
            <a:ext cx="711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1E3A8A"/>
                </a:solidFill>
                <a:latin typeface="Noto Sans SC"/>
                <a:ea typeface="Noto Sans SC"/>
                <a:cs typeface="Noto Sans SC"/>
                <a:sym typeface="Noto Sans SC"/>
              </a:rPr>
              <a:t>01 / </a:t>
            </a:r>
            <a:r>
              <a:rPr lang="en-US" sz="1800" b="1" i="0" u="none" strike="noStrike" dirty="0" err="1">
                <a:solidFill>
                  <a:srgbClr val="1E3A8A"/>
                </a:solidFill>
                <a:latin typeface="Noto Sans SC"/>
                <a:ea typeface="Noto Sans SC"/>
                <a:cs typeface="Noto Sans SC"/>
                <a:sym typeface="Noto Sans SC"/>
              </a:rPr>
              <a:t>六大核心功能矩阵</a:t>
            </a:r>
            <a:endParaRPr lang="en-US" sz="1100" dirty="0"/>
          </a:p>
        </p:txBody>
      </p:sp>
      <p:sp>
        <p:nvSpPr>
          <p:cNvPr id="12" name="AutoShape 12"/>
          <p:cNvSpPr/>
          <p:nvPr/>
        </p:nvSpPr>
        <p:spPr>
          <a:xfrm>
            <a:off x="4445000" y="2413000"/>
            <a:ext cx="2235200" cy="825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2603500"/>
            <a:ext cx="304800" cy="304800"/>
          </a:xfrm>
          <a:prstGeom prst="rect">
            <a:avLst/>
          </a:prstGeom>
        </p:spPr>
      </p:pic>
      <p:sp>
        <p:nvSpPr>
          <p:cNvPr id="14" name="AutoShape 14"/>
          <p:cNvSpPr/>
          <p:nvPr/>
        </p:nvSpPr>
        <p:spPr>
          <a:xfrm>
            <a:off x="4953000" y="25400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合同智能审查</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AI自动识别风险条款</a:t>
            </a:r>
          </a:p>
        </p:txBody>
      </p:sp>
      <p:sp>
        <p:nvSpPr>
          <p:cNvPr id="15" name="AutoShape 15"/>
          <p:cNvSpPr/>
          <p:nvPr/>
        </p:nvSpPr>
        <p:spPr>
          <a:xfrm>
            <a:off x="6832600" y="2413000"/>
            <a:ext cx="2235200" cy="825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59600" y="2603500"/>
            <a:ext cx="304800" cy="304800"/>
          </a:xfrm>
          <a:prstGeom prst="rect">
            <a:avLst/>
          </a:prstGeom>
        </p:spPr>
      </p:pic>
      <p:sp>
        <p:nvSpPr>
          <p:cNvPr id="17" name="AutoShape 17"/>
          <p:cNvSpPr/>
          <p:nvPr/>
        </p:nvSpPr>
        <p:spPr>
          <a:xfrm>
            <a:off x="7340600" y="25400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标准合同生成</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一键生成合规模版</a:t>
            </a:r>
          </a:p>
        </p:txBody>
      </p:sp>
      <p:sp>
        <p:nvSpPr>
          <p:cNvPr id="18" name="AutoShape 18"/>
          <p:cNvSpPr/>
          <p:nvPr/>
        </p:nvSpPr>
        <p:spPr>
          <a:xfrm>
            <a:off x="9220200" y="2413000"/>
            <a:ext cx="2235200" cy="825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47200" y="2603500"/>
            <a:ext cx="304800" cy="304800"/>
          </a:xfrm>
          <a:prstGeom prst="rect">
            <a:avLst/>
          </a:prstGeom>
        </p:spPr>
      </p:pic>
      <p:sp>
        <p:nvSpPr>
          <p:cNvPr id="20" name="AutoShape 20"/>
          <p:cNvSpPr/>
          <p:nvPr/>
        </p:nvSpPr>
        <p:spPr>
          <a:xfrm>
            <a:off x="9728200" y="25400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条款库与比对</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智能匹配最优条款</a:t>
            </a:r>
          </a:p>
        </p:txBody>
      </p:sp>
      <p:sp>
        <p:nvSpPr>
          <p:cNvPr id="21" name="AutoShape 21"/>
          <p:cNvSpPr/>
          <p:nvPr/>
        </p:nvSpPr>
        <p:spPr>
          <a:xfrm>
            <a:off x="4445000" y="3365500"/>
            <a:ext cx="2235200" cy="825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72000" y="3556000"/>
            <a:ext cx="304800" cy="304800"/>
          </a:xfrm>
          <a:prstGeom prst="rect">
            <a:avLst/>
          </a:prstGeom>
        </p:spPr>
      </p:pic>
      <p:sp>
        <p:nvSpPr>
          <p:cNvPr id="23" name="AutoShape 23"/>
          <p:cNvSpPr/>
          <p:nvPr/>
        </p:nvSpPr>
        <p:spPr>
          <a:xfrm>
            <a:off x="4953000" y="34925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合规性检查</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实时筛查合规风险</a:t>
            </a:r>
          </a:p>
        </p:txBody>
      </p:sp>
      <p:sp>
        <p:nvSpPr>
          <p:cNvPr id="24" name="AutoShape 24"/>
          <p:cNvSpPr/>
          <p:nvPr/>
        </p:nvSpPr>
        <p:spPr>
          <a:xfrm>
            <a:off x="6832600" y="3365500"/>
            <a:ext cx="2235200" cy="825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59600" y="3556000"/>
            <a:ext cx="304800" cy="304800"/>
          </a:xfrm>
          <a:prstGeom prst="rect">
            <a:avLst/>
          </a:prstGeom>
        </p:spPr>
      </p:pic>
      <p:sp>
        <p:nvSpPr>
          <p:cNvPr id="26" name="AutoShape 26"/>
          <p:cNvSpPr/>
          <p:nvPr/>
        </p:nvSpPr>
        <p:spPr>
          <a:xfrm>
            <a:off x="7340600" y="34925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智能法律咨询</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7x24h 即时响应</a:t>
            </a:r>
          </a:p>
        </p:txBody>
      </p:sp>
      <p:sp>
        <p:nvSpPr>
          <p:cNvPr id="27" name="AutoShape 27"/>
          <p:cNvSpPr/>
          <p:nvPr/>
        </p:nvSpPr>
        <p:spPr>
          <a:xfrm>
            <a:off x="9220200" y="3365500"/>
            <a:ext cx="2235200" cy="825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47200" y="3556000"/>
            <a:ext cx="304800" cy="304800"/>
          </a:xfrm>
          <a:prstGeom prst="rect">
            <a:avLst/>
          </a:prstGeom>
        </p:spPr>
      </p:pic>
      <p:sp>
        <p:nvSpPr>
          <p:cNvPr id="29" name="AutoShape 29"/>
          <p:cNvSpPr/>
          <p:nvPr/>
        </p:nvSpPr>
        <p:spPr>
          <a:xfrm>
            <a:off x="9728200" y="3492500"/>
            <a:ext cx="177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知识库管理</a:t>
            </a:r>
            <a:endParaRPr lang="en-US" sz="1100"/>
          </a:p>
          <a:p>
            <a:pPr marL="0" indent="0" algn="l">
              <a:lnSpc>
                <a:spcPct val="125000"/>
              </a:lnSpc>
            </a:pPr>
            <a:r>
              <a:rPr lang="en-US" sz="1200" b="0" i="0" u="none" strike="noStrike">
                <a:solidFill>
                  <a:srgbClr val="6B7280"/>
                </a:solidFill>
                <a:latin typeface="Noto Sans SC"/>
                <a:ea typeface="Noto Sans SC"/>
                <a:cs typeface="Noto Sans SC"/>
                <a:sym typeface="Noto Sans SC"/>
              </a:rPr>
              <a:t>动态维护法规库</a:t>
            </a:r>
          </a:p>
        </p:txBody>
      </p:sp>
      <p:sp>
        <p:nvSpPr>
          <p:cNvPr id="30" name="AutoShape 30"/>
          <p:cNvSpPr/>
          <p:nvPr/>
        </p:nvSpPr>
        <p:spPr>
          <a:xfrm>
            <a:off x="4445000" y="4445000"/>
            <a:ext cx="711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3A8A"/>
                </a:solidFill>
                <a:latin typeface="Noto Sans SC"/>
                <a:ea typeface="Noto Sans SC"/>
                <a:cs typeface="Noto Sans SC"/>
                <a:sym typeface="Noto Sans SC"/>
              </a:rPr>
              <a:t>02 / 技术架构底座</a:t>
            </a:r>
            <a:endParaRPr lang="en-US" sz="1100"/>
          </a:p>
        </p:txBody>
      </p:sp>
      <p:sp>
        <p:nvSpPr>
          <p:cNvPr id="31" name="AutoShape 31"/>
          <p:cNvSpPr/>
          <p:nvPr/>
        </p:nvSpPr>
        <p:spPr>
          <a:xfrm>
            <a:off x="4445000" y="4889500"/>
            <a:ext cx="1079500" cy="3556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4445000" y="4889500"/>
            <a:ext cx="10795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E40AF"/>
                </a:solidFill>
                <a:latin typeface="Arial"/>
                <a:ea typeface="Arial"/>
                <a:cs typeface="Arial"/>
                <a:sym typeface="Arial"/>
              </a:rPr>
              <a:t>Python 3.10</a:t>
            </a:r>
            <a:endParaRPr lang="en-US" sz="1100"/>
          </a:p>
        </p:txBody>
      </p:sp>
      <p:sp>
        <p:nvSpPr>
          <p:cNvPr id="33" name="AutoShape 33"/>
          <p:cNvSpPr/>
          <p:nvPr/>
        </p:nvSpPr>
        <p:spPr>
          <a:xfrm>
            <a:off x="5588000" y="4889500"/>
            <a:ext cx="952500" cy="3556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5588000" y="4889500"/>
            <a:ext cx="9525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E40AF"/>
                </a:solidFill>
                <a:latin typeface="Arial"/>
                <a:ea typeface="Arial"/>
                <a:cs typeface="Arial"/>
                <a:sym typeface="Arial"/>
              </a:rPr>
              <a:t>FastAPI</a:t>
            </a:r>
            <a:endParaRPr lang="en-US" sz="1100"/>
          </a:p>
        </p:txBody>
      </p:sp>
      <p:sp>
        <p:nvSpPr>
          <p:cNvPr id="35" name="AutoShape 35"/>
          <p:cNvSpPr/>
          <p:nvPr/>
        </p:nvSpPr>
        <p:spPr>
          <a:xfrm>
            <a:off x="6604000" y="4889500"/>
            <a:ext cx="1016000" cy="355600"/>
          </a:xfrm>
          <a:prstGeom prst="roundRect">
            <a:avLst>
              <a:gd name="adj" fmla="val 0"/>
            </a:avLst>
          </a:prstGeom>
          <a:solidFill>
            <a:srgbClr val="FEF3C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6604000" y="4889500"/>
            <a:ext cx="10160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B45309"/>
                </a:solidFill>
                <a:latin typeface="Arial"/>
                <a:ea typeface="Arial"/>
                <a:cs typeface="Arial"/>
                <a:sym typeface="Arial"/>
              </a:rPr>
              <a:t>LangChain</a:t>
            </a:r>
            <a:endParaRPr lang="en-US" sz="1100"/>
          </a:p>
        </p:txBody>
      </p:sp>
      <p:sp>
        <p:nvSpPr>
          <p:cNvPr id="37" name="AutoShape 37"/>
          <p:cNvSpPr/>
          <p:nvPr/>
        </p:nvSpPr>
        <p:spPr>
          <a:xfrm>
            <a:off x="7683500" y="4889500"/>
            <a:ext cx="1016000" cy="355600"/>
          </a:xfrm>
          <a:prstGeom prst="roundRect">
            <a:avLst>
              <a:gd name="adj" fmla="val 0"/>
            </a:avLst>
          </a:prstGeom>
          <a:solidFill>
            <a:srgbClr val="FEF3C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7683500" y="4889500"/>
            <a:ext cx="10160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B45309"/>
                </a:solidFill>
                <a:latin typeface="Arial"/>
                <a:ea typeface="Arial"/>
                <a:cs typeface="Arial"/>
                <a:sym typeface="Arial"/>
              </a:rPr>
              <a:t>DeepSeek</a:t>
            </a:r>
            <a:endParaRPr lang="en-US" sz="1100"/>
          </a:p>
        </p:txBody>
      </p:sp>
      <p:sp>
        <p:nvSpPr>
          <p:cNvPr id="39" name="AutoShape 39"/>
          <p:cNvSpPr/>
          <p:nvPr/>
        </p:nvSpPr>
        <p:spPr>
          <a:xfrm>
            <a:off x="8763000" y="4889500"/>
            <a:ext cx="762000" cy="355600"/>
          </a:xfrm>
          <a:prstGeom prst="roundRect">
            <a:avLst>
              <a:gd name="adj" fmla="val 0"/>
            </a:avLst>
          </a:prstGeom>
          <a:solidFill>
            <a:srgbClr val="D1FA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8763000" y="4889500"/>
            <a:ext cx="7620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065F46"/>
                </a:solidFill>
                <a:latin typeface="Arial"/>
                <a:ea typeface="Arial"/>
                <a:cs typeface="Arial"/>
                <a:sym typeface="Arial"/>
              </a:rPr>
              <a:t>Vue 3</a:t>
            </a:r>
            <a:endParaRPr lang="en-US" sz="1100"/>
          </a:p>
        </p:txBody>
      </p:sp>
      <p:sp>
        <p:nvSpPr>
          <p:cNvPr id="41" name="AutoShape 41"/>
          <p:cNvSpPr/>
          <p:nvPr/>
        </p:nvSpPr>
        <p:spPr>
          <a:xfrm>
            <a:off x="9588500" y="4889500"/>
            <a:ext cx="889000" cy="355600"/>
          </a:xfrm>
          <a:prstGeom prst="roundRect">
            <a:avLst>
              <a:gd name="adj" fmla="val 0"/>
            </a:avLst>
          </a:prstGeom>
          <a:solidFill>
            <a:srgbClr val="D1FAE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9588500" y="4889500"/>
            <a:ext cx="8890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065F46"/>
                </a:solidFill>
                <a:latin typeface="Arial"/>
                <a:ea typeface="Arial"/>
                <a:cs typeface="Arial"/>
                <a:sym typeface="Arial"/>
              </a:rPr>
              <a:t>MySQL</a:t>
            </a:r>
            <a:endParaRPr lang="en-US" sz="1100"/>
          </a:p>
        </p:txBody>
      </p:sp>
      <p:sp>
        <p:nvSpPr>
          <p:cNvPr id="43" name="AutoShape 43"/>
          <p:cNvSpPr/>
          <p:nvPr/>
        </p:nvSpPr>
        <p:spPr>
          <a:xfrm>
            <a:off x="10541000" y="4889500"/>
            <a:ext cx="762000" cy="355600"/>
          </a:xfrm>
          <a:prstGeom prst="roundRect">
            <a:avLst>
              <a:gd name="adj" fmla="val 0"/>
            </a:avLst>
          </a:prstGeom>
          <a:solidFill>
            <a:srgbClr val="FCE7F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10541000" y="4889500"/>
            <a:ext cx="7620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831843"/>
                </a:solidFill>
                <a:latin typeface="Arial"/>
                <a:ea typeface="Arial"/>
                <a:cs typeface="Arial"/>
                <a:sym typeface="Arial"/>
              </a:rPr>
              <a:t>FAISS</a:t>
            </a:r>
            <a:endParaRPr lang="en-US" sz="1100"/>
          </a:p>
        </p:txBody>
      </p:sp>
      <p:sp>
        <p:nvSpPr>
          <p:cNvPr id="45" name="AutoShape 45"/>
          <p:cNvSpPr/>
          <p:nvPr/>
        </p:nvSpPr>
        <p:spPr>
          <a:xfrm>
            <a:off x="4445000" y="5461000"/>
            <a:ext cx="711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3A8A"/>
                </a:solidFill>
                <a:latin typeface="Noto Sans SC"/>
                <a:ea typeface="Noto Sans SC"/>
                <a:cs typeface="Noto Sans SC"/>
                <a:sym typeface="Noto Sans SC"/>
              </a:rPr>
              <a:t>03 / 直击行业核心痛点</a:t>
            </a:r>
            <a:endParaRPr lang="en-US" sz="1100"/>
          </a:p>
        </p:txBody>
      </p:sp>
      <p:sp>
        <p:nvSpPr>
          <p:cNvPr id="46" name="AutoShape 46"/>
          <p:cNvSpPr/>
          <p:nvPr/>
        </p:nvSpPr>
        <p:spPr>
          <a:xfrm>
            <a:off x="4445000" y="5905500"/>
            <a:ext cx="2235200" cy="6350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AutoShape 47"/>
          <p:cNvSpPr/>
          <p:nvPr/>
        </p:nvSpPr>
        <p:spPr>
          <a:xfrm>
            <a:off x="4445000" y="5905500"/>
            <a:ext cx="2235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B91C1C"/>
                </a:solidFill>
                <a:latin typeface="Noto Sans SC"/>
                <a:ea typeface="Noto Sans SC"/>
                <a:cs typeface="Noto Sans SC"/>
                <a:sym typeface="Noto Sans SC"/>
              </a:rPr>
              <a:t>⏱️ 审查耗时费力</a:t>
            </a:r>
            <a:endParaRPr lang="en-US" sz="1100"/>
          </a:p>
          <a:p>
            <a:pPr marL="0" indent="0" algn="l">
              <a:lnSpc>
                <a:spcPct val="125000"/>
              </a:lnSpc>
            </a:pPr>
            <a:r>
              <a:rPr lang="en-US" sz="1200" b="0" i="0" u="none" strike="noStrike">
                <a:solidFill>
                  <a:srgbClr val="7F1D1D"/>
                </a:solidFill>
                <a:latin typeface="Noto Sans SC"/>
                <a:ea typeface="Noto Sans SC"/>
                <a:cs typeface="Noto Sans SC"/>
                <a:sym typeface="Noto Sans SC"/>
              </a:rPr>
              <a:t>人工逐字校对，效率低下</a:t>
            </a:r>
          </a:p>
        </p:txBody>
      </p:sp>
      <p:sp>
        <p:nvSpPr>
          <p:cNvPr id="48" name="AutoShape 48"/>
          <p:cNvSpPr/>
          <p:nvPr/>
        </p:nvSpPr>
        <p:spPr>
          <a:xfrm>
            <a:off x="6832600" y="5905500"/>
            <a:ext cx="2235200" cy="6350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49"/>
          <p:cNvSpPr/>
          <p:nvPr/>
        </p:nvSpPr>
        <p:spPr>
          <a:xfrm>
            <a:off x="6832600" y="5905500"/>
            <a:ext cx="2235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B91C1C"/>
                </a:solidFill>
                <a:latin typeface="Noto Sans SC"/>
                <a:ea typeface="Noto Sans SC"/>
                <a:cs typeface="Noto Sans SC"/>
                <a:sym typeface="Noto Sans SC"/>
              </a:rPr>
              <a:t>⚠️ 人工漏检风险</a:t>
            </a:r>
            <a:endParaRPr lang="en-US" sz="1100"/>
          </a:p>
          <a:p>
            <a:pPr marL="0" indent="0" algn="l">
              <a:lnSpc>
                <a:spcPct val="125000"/>
              </a:lnSpc>
            </a:pPr>
            <a:r>
              <a:rPr lang="en-US" sz="1200" b="0" i="0" u="none" strike="noStrike">
                <a:solidFill>
                  <a:srgbClr val="7F1D1D"/>
                </a:solidFill>
                <a:latin typeface="Noto Sans SC"/>
                <a:ea typeface="Noto Sans SC"/>
                <a:cs typeface="Noto Sans SC"/>
                <a:sym typeface="Noto Sans SC"/>
              </a:rPr>
              <a:t>人为疏忽导致合规隐患</a:t>
            </a:r>
          </a:p>
        </p:txBody>
      </p:sp>
      <p:sp>
        <p:nvSpPr>
          <p:cNvPr id="50" name="AutoShape 50"/>
          <p:cNvSpPr/>
          <p:nvPr/>
        </p:nvSpPr>
        <p:spPr>
          <a:xfrm>
            <a:off x="9220200" y="5905500"/>
            <a:ext cx="2235200" cy="6350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51"/>
          <p:cNvSpPr/>
          <p:nvPr/>
        </p:nvSpPr>
        <p:spPr>
          <a:xfrm>
            <a:off x="9220200" y="5905500"/>
            <a:ext cx="2235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B91C1C"/>
                </a:solidFill>
                <a:latin typeface="Noto Sans SC"/>
                <a:ea typeface="Noto Sans SC"/>
                <a:cs typeface="Noto Sans SC"/>
                <a:sym typeface="Noto Sans SC"/>
              </a:rPr>
              <a:t>🔍 依据难以溯源</a:t>
            </a:r>
            <a:endParaRPr lang="en-US" sz="1100"/>
          </a:p>
          <a:p>
            <a:pPr marL="0" indent="0" algn="l">
              <a:lnSpc>
                <a:spcPct val="125000"/>
              </a:lnSpc>
            </a:pPr>
            <a:r>
              <a:rPr lang="en-US" sz="1200" b="0" i="0" u="none" strike="noStrike">
                <a:solidFill>
                  <a:srgbClr val="7F1D1D"/>
                </a:solidFill>
                <a:latin typeface="Noto Sans SC"/>
                <a:ea typeface="Noto Sans SC"/>
                <a:cs typeface="Noto Sans SC"/>
                <a:sym typeface="Noto Sans SC"/>
              </a:rPr>
              <a:t>条款关联法律依据难查询</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 y="4191000"/>
            <a:ext cx="12217400" cy="14097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4483100" y="2197100"/>
            <a:ext cx="5422900" cy="26797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362200" y="2197100"/>
            <a:ext cx="1968500" cy="2679700"/>
          </a:xfrm>
          <a:prstGeom prst="roundRect">
            <a:avLst>
              <a:gd name="adj" fmla="val 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V="1">
            <a:off x="2717800" y="2997200"/>
            <a:ext cx="1244600" cy="1231900"/>
          </a:xfrm>
          <a:prstGeom prst="rect">
            <a:avLst/>
          </a:prstGeom>
        </p:spPr>
      </p:pic>
      <p:sp>
        <p:nvSpPr>
          <p:cNvPr id="6" name="AutoShape 6"/>
          <p:cNvSpPr/>
          <p:nvPr/>
        </p:nvSpPr>
        <p:spPr>
          <a:xfrm>
            <a:off x="4851400" y="2882900"/>
            <a:ext cx="2209800" cy="711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4000" b="0" i="0" u="none" strike="noStrike">
                <a:solidFill>
                  <a:srgbClr val="FFFFFF"/>
                </a:solidFill>
                <a:latin typeface="华康乾隆行楷 W7"/>
                <a:ea typeface="华康乾隆行楷 W7"/>
                <a:cs typeface="华康乾隆行楷 W7"/>
                <a:sym typeface="华康乾隆行楷 W7"/>
              </a:rPr>
              <a:t>各成员完成模块</a:t>
            </a:r>
            <a:endParaRPr lang="en-US" sz="1100"/>
          </a:p>
        </p:txBody>
      </p:sp>
      <p:sp>
        <p:nvSpPr>
          <p:cNvPr id="7" name="AutoShape 7"/>
          <p:cNvSpPr/>
          <p:nvPr/>
        </p:nvSpPr>
        <p:spPr>
          <a:xfrm>
            <a:off x="4940300" y="3606800"/>
            <a:ext cx="4572000" cy="584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1600" b="0" i="0" u="none" strike="noStrike">
                <a:solidFill>
                  <a:srgbClr val="FFFFFF"/>
                </a:solidFill>
                <a:latin typeface="Noto Sans SC"/>
                <a:ea typeface="Noto Sans SC"/>
                <a:cs typeface="Noto Sans SC"/>
                <a:sym typeface="Noto Sans SC"/>
              </a:rPr>
              <a:t>Each member completes the module</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0" y="-762000"/>
            <a:ext cx="2540000" cy="2540000"/>
          </a:xfrm>
          <a:prstGeom prst="ellipse">
            <a:avLst/>
          </a:prstGeom>
          <a:solidFill>
            <a:srgbClr val="6D4CA8">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35000" y="5334000"/>
            <a:ext cx="1905000" cy="1905000"/>
          </a:xfrm>
          <a:prstGeom prst="ellipse">
            <a:avLst/>
          </a:prstGeom>
          <a:solidFill>
            <a:srgbClr val="6D4CA8">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381000"/>
            <a:ext cx="1143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329"/>
                </a:solidFill>
                <a:latin typeface="Noto Sans SC"/>
                <a:ea typeface="Noto Sans SC"/>
                <a:cs typeface="Noto Sans SC"/>
                <a:sym typeface="Noto Sans SC"/>
              </a:rPr>
              <a:t>各成员完成模块</a:t>
            </a:r>
            <a:endParaRPr lang="en-US" sz="1100"/>
          </a:p>
        </p:txBody>
      </p:sp>
      <p:sp>
        <p:nvSpPr>
          <p:cNvPr id="5" name="AutoShape 5"/>
          <p:cNvSpPr/>
          <p:nvPr/>
        </p:nvSpPr>
        <p:spPr>
          <a:xfrm>
            <a:off x="381000" y="1016000"/>
            <a:ext cx="1143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828282"/>
                </a:solidFill>
                <a:latin typeface="Noto Sans SC"/>
                <a:ea typeface="Noto Sans SC"/>
                <a:cs typeface="Noto Sans SC"/>
                <a:sym typeface="Noto Sans SC"/>
              </a:rPr>
              <a:t>Each member completes the module</a:t>
            </a:r>
            <a:endParaRPr lang="en-US" sz="1100"/>
          </a:p>
        </p:txBody>
      </p:sp>
      <p:sp>
        <p:nvSpPr>
          <p:cNvPr id="6" name="AutoShape 6"/>
          <p:cNvSpPr/>
          <p:nvPr/>
        </p:nvSpPr>
        <p:spPr>
          <a:xfrm>
            <a:off x="381000" y="1651000"/>
            <a:ext cx="3683000" cy="2222500"/>
          </a:xfrm>
          <a:prstGeom prst="roundRect">
            <a:avLst>
              <a:gd name="adj" fmla="val 0"/>
            </a:avLst>
          </a:prstGeom>
          <a:solidFill>
            <a:srgbClr val="6D4CA8">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381000" y="1651000"/>
            <a:ext cx="3683000" cy="38100"/>
          </a:xfrm>
          <a:prstGeom prst="roundRect">
            <a:avLst>
              <a:gd name="adj" fmla="val 0"/>
            </a:avLst>
          </a:prstGeom>
          <a:solidFill>
            <a:srgbClr val="6D4CA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08000" y="1841500"/>
            <a:ext cx="342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4CA8"/>
                </a:solidFill>
                <a:latin typeface="Noto Sans SC"/>
                <a:ea typeface="Noto Sans SC"/>
                <a:cs typeface="Noto Sans SC"/>
                <a:sym typeface="Noto Sans SC"/>
              </a:rPr>
              <a:t>郭家亨</a:t>
            </a:r>
            <a:r>
              <a:rPr lang="en-US" sz="1600" b="0" i="0" u="none" strike="noStrike">
                <a:solidFill>
                  <a:srgbClr val="1F2329"/>
                </a:solidFill>
                <a:latin typeface="Noto Sans SC"/>
                <a:ea typeface="Noto Sans SC"/>
                <a:cs typeface="Noto Sans SC"/>
                <a:sym typeface="Noto Sans SC"/>
              </a:rPr>
              <a:t> </a:t>
            </a:r>
            <a:r>
              <a:rPr lang="en-US" sz="1400" b="0" i="0" u="none" strike="noStrike">
                <a:solidFill>
                  <a:srgbClr val="646464"/>
                </a:solidFill>
                <a:latin typeface="Noto Sans SC"/>
                <a:ea typeface="Noto Sans SC"/>
                <a:cs typeface="Noto Sans SC"/>
                <a:sym typeface="Noto Sans SC"/>
              </a:rPr>
              <a:t>| 项目经理</a:t>
            </a:r>
            <a:endParaRPr lang="en-US" sz="1100"/>
          </a:p>
        </p:txBody>
      </p:sp>
      <p:sp>
        <p:nvSpPr>
          <p:cNvPr id="9" name="AutoShape 9"/>
          <p:cNvSpPr/>
          <p:nvPr/>
        </p:nvSpPr>
        <p:spPr>
          <a:xfrm>
            <a:off x="508000" y="2286000"/>
            <a:ext cx="342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统筹项目计划与进度管理，主导数据库架构设计与配置管理。核心负责智能问答引擎搭建，以及知识库管理模块，涵盖法规条款库构建、Agent智能工具链与检索机制的实现。</a:t>
            </a:r>
            <a:endParaRPr lang="en-US" sz="1100"/>
          </a:p>
        </p:txBody>
      </p:sp>
      <p:sp>
        <p:nvSpPr>
          <p:cNvPr id="10" name="AutoShape 10"/>
          <p:cNvSpPr/>
          <p:nvPr/>
        </p:nvSpPr>
        <p:spPr>
          <a:xfrm>
            <a:off x="4254500" y="1651000"/>
            <a:ext cx="3683000" cy="2222500"/>
          </a:xfrm>
          <a:prstGeom prst="roundRect">
            <a:avLst>
              <a:gd name="adj" fmla="val 0"/>
            </a:avLst>
          </a:prstGeom>
          <a:solidFill>
            <a:srgbClr val="6D4CA8">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254500" y="1651000"/>
            <a:ext cx="3683000" cy="38100"/>
          </a:xfrm>
          <a:prstGeom prst="roundRect">
            <a:avLst>
              <a:gd name="adj" fmla="val 0"/>
            </a:avLst>
          </a:prstGeom>
          <a:solidFill>
            <a:srgbClr val="6D4CA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381500" y="1841500"/>
            <a:ext cx="342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4CA8"/>
                </a:solidFill>
                <a:latin typeface="Noto Sans SC"/>
                <a:ea typeface="Noto Sans SC"/>
                <a:cs typeface="Noto Sans SC"/>
                <a:sym typeface="Noto Sans SC"/>
              </a:rPr>
              <a:t>陈俊福</a:t>
            </a:r>
            <a:r>
              <a:rPr lang="en-US" sz="1600" b="0" i="0" u="none" strike="noStrike">
                <a:solidFill>
                  <a:srgbClr val="1F2329"/>
                </a:solidFill>
                <a:latin typeface="Noto Sans SC"/>
                <a:ea typeface="Noto Sans SC"/>
                <a:cs typeface="Noto Sans SC"/>
                <a:sym typeface="Noto Sans SC"/>
              </a:rPr>
              <a:t> </a:t>
            </a:r>
            <a:r>
              <a:rPr lang="en-US" sz="1400" b="0" i="0" u="none" strike="noStrike">
                <a:solidFill>
                  <a:srgbClr val="646464"/>
                </a:solidFill>
                <a:latin typeface="Noto Sans SC"/>
                <a:ea typeface="Noto Sans SC"/>
                <a:cs typeface="Noto Sans SC"/>
                <a:sym typeface="Noto Sans SC"/>
              </a:rPr>
              <a:t>| 需求分析 / 全栈</a:t>
            </a:r>
            <a:endParaRPr lang="en-US" sz="1100"/>
          </a:p>
        </p:txBody>
      </p:sp>
      <p:sp>
        <p:nvSpPr>
          <p:cNvPr id="13" name="AutoShape 13"/>
          <p:cNvSpPr/>
          <p:nvPr/>
        </p:nvSpPr>
        <p:spPr>
          <a:xfrm>
            <a:off x="4381500" y="2286000"/>
            <a:ext cx="342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主导软件需求规约撰写与前端交互开发。负责标准合同生成模块，实现问答式要素智能收集、合同自动生成与生成后合规自检的功能闭环，提升合同生成效率。</a:t>
            </a:r>
            <a:endParaRPr lang="en-US" sz="1100"/>
          </a:p>
        </p:txBody>
      </p:sp>
      <p:sp>
        <p:nvSpPr>
          <p:cNvPr id="14" name="AutoShape 14"/>
          <p:cNvSpPr/>
          <p:nvPr/>
        </p:nvSpPr>
        <p:spPr>
          <a:xfrm>
            <a:off x="8128000" y="1651000"/>
            <a:ext cx="3683000" cy="2222500"/>
          </a:xfrm>
          <a:prstGeom prst="roundRect">
            <a:avLst>
              <a:gd name="adj" fmla="val 0"/>
            </a:avLst>
          </a:prstGeom>
          <a:solidFill>
            <a:srgbClr val="6D4CA8">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128000" y="1651000"/>
            <a:ext cx="3683000" cy="38100"/>
          </a:xfrm>
          <a:prstGeom prst="roundRect">
            <a:avLst>
              <a:gd name="adj" fmla="val 0"/>
            </a:avLst>
          </a:prstGeom>
          <a:solidFill>
            <a:srgbClr val="6D4CA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255000" y="1841500"/>
            <a:ext cx="342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4CA8"/>
                </a:solidFill>
                <a:latin typeface="Noto Sans SC"/>
                <a:ea typeface="Noto Sans SC"/>
                <a:cs typeface="Noto Sans SC"/>
                <a:sym typeface="Noto Sans SC"/>
              </a:rPr>
              <a:t>查文翔</a:t>
            </a:r>
            <a:r>
              <a:rPr lang="en-US" sz="1600" b="0" i="0" u="none" strike="noStrike">
                <a:solidFill>
                  <a:srgbClr val="1F2329"/>
                </a:solidFill>
                <a:latin typeface="Noto Sans SC"/>
                <a:ea typeface="Noto Sans SC"/>
                <a:cs typeface="Noto Sans SC"/>
                <a:sym typeface="Noto Sans SC"/>
              </a:rPr>
              <a:t> </a:t>
            </a:r>
            <a:r>
              <a:rPr lang="en-US" sz="1400" b="0" i="0" u="none" strike="noStrike">
                <a:solidFill>
                  <a:srgbClr val="646464"/>
                </a:solidFill>
                <a:latin typeface="Noto Sans SC"/>
                <a:ea typeface="Noto Sans SC"/>
                <a:cs typeface="Noto Sans SC"/>
                <a:sym typeface="Noto Sans SC"/>
              </a:rPr>
              <a:t>| 测试主管 / 全栈</a:t>
            </a:r>
            <a:endParaRPr lang="en-US" sz="1100"/>
          </a:p>
        </p:txBody>
      </p:sp>
      <p:sp>
        <p:nvSpPr>
          <p:cNvPr id="17" name="AutoShape 17"/>
          <p:cNvSpPr/>
          <p:nvPr/>
        </p:nvSpPr>
        <p:spPr>
          <a:xfrm>
            <a:off x="8255000" y="2286000"/>
            <a:ext cx="342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制定全流程测试计划与用例，输出详细测试日志。负责合同智能审查模块开发，搭建审查全链路流程，集成法规智能检索与合规校验逻辑，保障系统准确性。</a:t>
            </a:r>
            <a:endParaRPr lang="en-US" sz="1100"/>
          </a:p>
        </p:txBody>
      </p:sp>
      <p:sp>
        <p:nvSpPr>
          <p:cNvPr id="18" name="AutoShape 18"/>
          <p:cNvSpPr/>
          <p:nvPr/>
        </p:nvSpPr>
        <p:spPr>
          <a:xfrm>
            <a:off x="381000" y="4127500"/>
            <a:ext cx="5524500" cy="2222500"/>
          </a:xfrm>
          <a:prstGeom prst="roundRect">
            <a:avLst>
              <a:gd name="adj" fmla="val 0"/>
            </a:avLst>
          </a:prstGeom>
          <a:solidFill>
            <a:srgbClr val="6D4CA8">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381000" y="4127500"/>
            <a:ext cx="5524500" cy="38100"/>
          </a:xfrm>
          <a:prstGeom prst="roundRect">
            <a:avLst>
              <a:gd name="adj" fmla="val 0"/>
            </a:avLst>
          </a:prstGeom>
          <a:solidFill>
            <a:srgbClr val="6D4CA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508000" y="4318000"/>
            <a:ext cx="527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4CA8"/>
                </a:solidFill>
                <a:latin typeface="Noto Sans SC"/>
                <a:ea typeface="Noto Sans SC"/>
                <a:cs typeface="Noto Sans SC"/>
                <a:sym typeface="Noto Sans SC"/>
              </a:rPr>
              <a:t>王琛傲</a:t>
            </a:r>
            <a:r>
              <a:rPr lang="en-US" sz="1600" b="0" i="0" u="none" strike="noStrike">
                <a:solidFill>
                  <a:srgbClr val="1F2329"/>
                </a:solidFill>
                <a:latin typeface="Noto Sans SC"/>
                <a:ea typeface="Noto Sans SC"/>
                <a:cs typeface="Noto Sans SC"/>
                <a:sym typeface="Noto Sans SC"/>
              </a:rPr>
              <a:t> </a:t>
            </a:r>
            <a:r>
              <a:rPr lang="en-US" sz="1400" b="0" i="0" u="none" strike="noStrike">
                <a:solidFill>
                  <a:srgbClr val="646464"/>
                </a:solidFill>
                <a:latin typeface="Noto Sans SC"/>
                <a:ea typeface="Noto Sans SC"/>
                <a:cs typeface="Noto Sans SC"/>
                <a:sym typeface="Noto Sans SC"/>
              </a:rPr>
              <a:t>| 全栈工程师</a:t>
            </a:r>
            <a:endParaRPr lang="en-US" sz="1100"/>
          </a:p>
        </p:txBody>
      </p:sp>
      <p:sp>
        <p:nvSpPr>
          <p:cNvPr id="21" name="AutoShape 21"/>
          <p:cNvSpPr/>
          <p:nvPr/>
        </p:nvSpPr>
        <p:spPr>
          <a:xfrm>
            <a:off x="508000" y="4762500"/>
            <a:ext cx="5270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负责后端接口开发与系统登录鉴权体系搭建，保障系统安全性与稳定性。核心开发合规性检查模块，实现法规条文智能检索、业务场景合规性自动判断与风险预警，确保业务合规可控。</a:t>
            </a:r>
            <a:endParaRPr lang="en-US" sz="1100"/>
          </a:p>
        </p:txBody>
      </p:sp>
      <p:sp>
        <p:nvSpPr>
          <p:cNvPr id="22" name="AutoShape 22"/>
          <p:cNvSpPr/>
          <p:nvPr/>
        </p:nvSpPr>
        <p:spPr>
          <a:xfrm>
            <a:off x="6159500" y="4127500"/>
            <a:ext cx="5524500" cy="2222500"/>
          </a:xfrm>
          <a:prstGeom prst="roundRect">
            <a:avLst>
              <a:gd name="adj" fmla="val 0"/>
            </a:avLst>
          </a:prstGeom>
          <a:solidFill>
            <a:srgbClr val="6D4CA8">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159500" y="4127500"/>
            <a:ext cx="5524500" cy="38100"/>
          </a:xfrm>
          <a:prstGeom prst="roundRect">
            <a:avLst>
              <a:gd name="adj" fmla="val 0"/>
            </a:avLst>
          </a:prstGeom>
          <a:solidFill>
            <a:srgbClr val="6D4CA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286500" y="4318000"/>
            <a:ext cx="527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6D4CA8"/>
                </a:solidFill>
                <a:latin typeface="Noto Sans SC"/>
                <a:ea typeface="Noto Sans SC"/>
                <a:cs typeface="Noto Sans SC"/>
                <a:sym typeface="Noto Sans SC"/>
              </a:rPr>
              <a:t>彭言锐</a:t>
            </a:r>
            <a:r>
              <a:rPr lang="en-US" sz="1600" b="0" i="0" u="none" strike="noStrike">
                <a:solidFill>
                  <a:srgbClr val="1F2329"/>
                </a:solidFill>
                <a:latin typeface="Noto Sans SC"/>
                <a:ea typeface="Noto Sans SC"/>
                <a:cs typeface="Noto Sans SC"/>
                <a:sym typeface="Noto Sans SC"/>
              </a:rPr>
              <a:t> </a:t>
            </a:r>
            <a:r>
              <a:rPr lang="en-US" sz="1400" b="0" i="0" u="none" strike="noStrike">
                <a:solidFill>
                  <a:srgbClr val="646464"/>
                </a:solidFill>
                <a:latin typeface="Noto Sans SC"/>
                <a:ea typeface="Noto Sans SC"/>
                <a:cs typeface="Noto Sans SC"/>
                <a:sym typeface="Noto Sans SC"/>
              </a:rPr>
              <a:t>| 全栈工程师</a:t>
            </a:r>
            <a:endParaRPr lang="en-US" sz="1100"/>
          </a:p>
        </p:txBody>
      </p:sp>
      <p:sp>
        <p:nvSpPr>
          <p:cNvPr id="25" name="AutoShape 25"/>
          <p:cNvSpPr/>
          <p:nvPr/>
        </p:nvSpPr>
        <p:spPr>
          <a:xfrm>
            <a:off x="6286500" y="4762500"/>
            <a:ext cx="5270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33333"/>
                </a:solidFill>
                <a:latin typeface="Noto Sans SC"/>
                <a:ea typeface="Noto Sans SC"/>
                <a:cs typeface="Noto Sans SC"/>
                <a:sym typeface="Noto Sans SC"/>
              </a:rPr>
              <a:t>负责系统部署运维与前后端联调，确保环境稳定。开发条款库管理与比对模块，实现合同条款新旧版本Diff分析、双层智能比对与差异可视化展示，助力快速识别条款变更。</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 y="4191000"/>
            <a:ext cx="12217400" cy="14097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4483100" y="2197100"/>
            <a:ext cx="5422900" cy="26797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362200" y="2197100"/>
            <a:ext cx="1968500" cy="2679700"/>
          </a:xfrm>
          <a:prstGeom prst="roundRect">
            <a:avLst>
              <a:gd name="adj" fmla="val 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V="1">
            <a:off x="2717800" y="2997200"/>
            <a:ext cx="1244600" cy="1231900"/>
          </a:xfrm>
          <a:prstGeom prst="rect">
            <a:avLst/>
          </a:prstGeom>
        </p:spPr>
      </p:pic>
      <p:sp>
        <p:nvSpPr>
          <p:cNvPr id="6" name="AutoShape 6"/>
          <p:cNvSpPr/>
          <p:nvPr/>
        </p:nvSpPr>
        <p:spPr>
          <a:xfrm>
            <a:off x="4851400" y="2882900"/>
            <a:ext cx="2209800" cy="711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4000" b="0" i="0" u="none" strike="noStrike">
                <a:solidFill>
                  <a:srgbClr val="FFFFFF"/>
                </a:solidFill>
                <a:latin typeface="华康乾隆行楷 W7"/>
                <a:ea typeface="华康乾隆行楷 W7"/>
                <a:cs typeface="华康乾隆行楷 W7"/>
                <a:sym typeface="华康乾隆行楷 W7"/>
              </a:rPr>
              <a:t>所用技术</a:t>
            </a:r>
            <a:endParaRPr lang="en-US" sz="1100"/>
          </a:p>
        </p:txBody>
      </p:sp>
      <p:sp>
        <p:nvSpPr>
          <p:cNvPr id="7" name="AutoShape 7"/>
          <p:cNvSpPr/>
          <p:nvPr/>
        </p:nvSpPr>
        <p:spPr>
          <a:xfrm>
            <a:off x="4940300" y="3606800"/>
            <a:ext cx="2209800" cy="584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1600" b="0" i="0" u="none" strike="noStrike">
                <a:solidFill>
                  <a:srgbClr val="FFFFFF"/>
                </a:solidFill>
                <a:latin typeface="Noto Sans SC"/>
                <a:ea typeface="Noto Sans SC"/>
                <a:cs typeface="Noto Sans SC"/>
                <a:sym typeface="Noto Sans SC"/>
              </a:rPr>
              <a:t>Technology Used</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rot="5400000">
            <a:off x="-952500" y="5651500"/>
            <a:ext cx="2133600" cy="2540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rot="5400000">
            <a:off x="-952500" y="3302000"/>
            <a:ext cx="2133600" cy="2540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rot="5400000">
            <a:off x="-952500" y="952500"/>
            <a:ext cx="2133600" cy="254000"/>
          </a:xfrm>
          <a:prstGeom prst="roundRect">
            <a:avLst>
              <a:gd name="adj" fmla="val 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368300" y="215900"/>
            <a:ext cx="2794000" cy="3683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800" b="0" i="0" u="none" strike="noStrike">
                <a:solidFill>
                  <a:srgbClr val="665C8A"/>
                </a:solidFill>
                <a:latin typeface="华康乾隆行楷 W7"/>
                <a:ea typeface="华康乾隆行楷 W7"/>
                <a:cs typeface="华康乾隆行楷 W7"/>
                <a:sym typeface="华康乾隆行楷 W7"/>
              </a:rPr>
              <a:t>所用技术 —— 前端</a:t>
            </a:r>
            <a:endParaRPr lang="en-US" sz="1100"/>
          </a:p>
        </p:txBody>
      </p:sp>
      <p:sp>
        <p:nvSpPr>
          <p:cNvPr id="6" name="AutoShape 6"/>
          <p:cNvSpPr/>
          <p:nvPr/>
        </p:nvSpPr>
        <p:spPr>
          <a:xfrm>
            <a:off x="393700" y="571500"/>
            <a:ext cx="2540000" cy="215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dist">
              <a:lnSpc>
                <a:spcPct val="100000"/>
              </a:lnSpc>
              <a:defRPr/>
            </a:pPr>
            <a:r>
              <a:rPr lang="en-US" sz="800" b="0" i="0" u="none" strike="noStrike">
                <a:solidFill>
                  <a:srgbClr val="665C8A"/>
                </a:solidFill>
                <a:latin typeface="Noto Sans SC"/>
                <a:ea typeface="Noto Sans SC"/>
                <a:cs typeface="Noto Sans SC"/>
                <a:sym typeface="Noto Sans SC"/>
              </a:rPr>
              <a:t>Technology Used - Frontend</a:t>
            </a:r>
            <a:endParaRPr lang="en-US" sz="1100"/>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22000" y="5651500"/>
            <a:ext cx="1130300" cy="1130300"/>
          </a:xfrm>
          <a:prstGeom prst="rect">
            <a:avLst/>
          </a:prstGeom>
        </p:spPr>
      </p:pic>
      <p:sp>
        <p:nvSpPr>
          <p:cNvPr id="8" name="AutoShape 8"/>
          <p:cNvSpPr/>
          <p:nvPr/>
        </p:nvSpPr>
        <p:spPr>
          <a:xfrm>
            <a:off x="1295400" y="1752600"/>
            <a:ext cx="4495800" cy="3683000"/>
          </a:xfrm>
          <a:prstGeom prst="hexagon">
            <a:avLst>
              <a:gd name="adj" fmla="val 25000"/>
              <a:gd name="vf" fmla="val 115470"/>
            </a:avLst>
          </a:prstGeom>
          <a:noFill/>
          <a:ln w="12700" cap="flat" cmpd="sng">
            <a:solidFill>
              <a:srgbClr val="8076A3">
                <a:alpha val="100000"/>
              </a:srgbClr>
            </a:solidFill>
            <a:prstDash val="solid"/>
            <a:miter lim="1000000"/>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35300" y="2095500"/>
            <a:ext cx="1028700" cy="1028700"/>
          </a:xfrm>
          <a:prstGeom prst="rect">
            <a:avLst/>
          </a:prstGeom>
        </p:spPr>
      </p:pic>
      <p:sp>
        <p:nvSpPr>
          <p:cNvPr id="10" name="AutoShape 10"/>
          <p:cNvSpPr/>
          <p:nvPr/>
        </p:nvSpPr>
        <p:spPr>
          <a:xfrm>
            <a:off x="2501900" y="3340100"/>
            <a:ext cx="2032000" cy="3683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1800" b="0" i="0" u="none" strike="noStrike">
                <a:solidFill>
                  <a:srgbClr val="7F76A3"/>
                </a:solidFill>
                <a:latin typeface="Noto Sans SC"/>
                <a:ea typeface="Noto Sans SC"/>
                <a:cs typeface="Noto Sans SC"/>
                <a:sym typeface="Noto Sans SC"/>
              </a:rPr>
              <a:t>Vue 3 核心生态</a:t>
            </a:r>
            <a:endParaRPr lang="en-US" sz="1100"/>
          </a:p>
        </p:txBody>
      </p:sp>
      <p:sp>
        <p:nvSpPr>
          <p:cNvPr id="11" name="AutoShape 11"/>
          <p:cNvSpPr/>
          <p:nvPr/>
        </p:nvSpPr>
        <p:spPr>
          <a:xfrm>
            <a:off x="2006600" y="3708400"/>
            <a:ext cx="3048000" cy="14986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33333"/>
              </a:lnSpc>
              <a:defRPr/>
            </a:pPr>
            <a:r>
              <a:rPr lang="en-US" sz="1400" b="0" i="0" u="none" strike="noStrike">
                <a:solidFill>
                  <a:srgbClr val="262626"/>
                </a:solidFill>
                <a:latin typeface="Noto Sans SC"/>
                <a:ea typeface="Noto Sans SC"/>
                <a:cs typeface="Noto Sans SC"/>
                <a:sym typeface="Noto Sans SC"/>
              </a:rPr>
              <a:t>基于 Vue 3 + Vite 构建极速开发环境，集成 Element Plus 组件库与 Pinia 状态管理，打造高性能、可扩展的现代化前端架构体系。</a:t>
            </a:r>
            <a:endParaRPr lang="en-US" sz="1100"/>
          </a:p>
        </p:txBody>
      </p:sp>
      <p:sp>
        <p:nvSpPr>
          <p:cNvPr id="12" name="AutoShape 12"/>
          <p:cNvSpPr/>
          <p:nvPr/>
        </p:nvSpPr>
        <p:spPr>
          <a:xfrm>
            <a:off x="4889500" y="4648200"/>
            <a:ext cx="635000" cy="520700"/>
          </a:xfrm>
          <a:prstGeom prst="hexagon">
            <a:avLst>
              <a:gd name="adj" fmla="val 25000"/>
              <a:gd name="vf" fmla="val 11547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574800" y="2451100"/>
            <a:ext cx="482600" cy="393700"/>
          </a:xfrm>
          <a:prstGeom prst="hexagon">
            <a:avLst>
              <a:gd name="adj" fmla="val 25000"/>
              <a:gd name="vf" fmla="val 11547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200900" y="571500"/>
            <a:ext cx="1905000" cy="3429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1600" b="1" i="0" u="none" strike="noStrike">
                <a:solidFill>
                  <a:srgbClr val="262626"/>
                </a:solidFill>
                <a:latin typeface="Noto Sans SC"/>
                <a:ea typeface="Noto Sans SC"/>
                <a:cs typeface="Noto Sans SC"/>
                <a:sym typeface="Noto Sans SC"/>
              </a:rPr>
              <a:t>核心技术栈</a:t>
            </a:r>
            <a:endParaRPr lang="en-US" sz="1100"/>
          </a:p>
        </p:txBody>
      </p:sp>
      <p:sp>
        <p:nvSpPr>
          <p:cNvPr id="15" name="AutoShape 15"/>
          <p:cNvSpPr/>
          <p:nvPr/>
        </p:nvSpPr>
        <p:spPr>
          <a:xfrm>
            <a:off x="7200900" y="952500"/>
            <a:ext cx="3987800" cy="914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200" b="0" i="0" u="none" strike="noStrike">
                <a:solidFill>
                  <a:srgbClr val="0F1423"/>
                </a:solidFill>
                <a:latin typeface="SimHei"/>
                <a:ea typeface="SimHei"/>
                <a:cs typeface="SimHei"/>
                <a:sym typeface="SimHei"/>
              </a:rPr>
              <a:t>以 Vue 3 为核心框架，搭配 Vite 实现毫秒级热更新；采用 Element Plus 提供丰富的企业级 UI 组件，结合 Pinia 轻量级状态管理，确保应用的高性能渲染与高效状态维护，支撑复杂业务场景的快速迭代。</a:t>
            </a:r>
            <a:endParaRPr lang="en-US" sz="1100"/>
          </a:p>
        </p:txBody>
      </p:sp>
      <p:sp>
        <p:nvSpPr>
          <p:cNvPr id="16" name="AutoShape 16"/>
          <p:cNvSpPr/>
          <p:nvPr/>
        </p:nvSpPr>
        <p:spPr>
          <a:xfrm>
            <a:off x="7200900" y="2540000"/>
            <a:ext cx="1905000" cy="3429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1600" b="1" i="0" u="none" strike="noStrike">
                <a:solidFill>
                  <a:srgbClr val="665C8A"/>
                </a:solidFill>
                <a:latin typeface="Noto Sans SC"/>
                <a:ea typeface="Noto Sans SC"/>
                <a:cs typeface="Noto Sans SC"/>
                <a:sym typeface="Noto Sans SC"/>
              </a:rPr>
              <a:t>核心业务页面</a:t>
            </a:r>
            <a:endParaRPr lang="en-US" sz="1100"/>
          </a:p>
        </p:txBody>
      </p:sp>
      <p:sp>
        <p:nvSpPr>
          <p:cNvPr id="17" name="AutoShape 17"/>
          <p:cNvSpPr/>
          <p:nvPr/>
        </p:nvSpPr>
        <p:spPr>
          <a:xfrm>
            <a:off x="6959600" y="2882900"/>
            <a:ext cx="3403600" cy="952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200" b="0" i="0" u="none" strike="noStrike">
                <a:solidFill>
                  <a:srgbClr val="0F1423"/>
                </a:solidFill>
                <a:latin typeface="SimHei"/>
                <a:ea typeface="SimHei"/>
                <a:cs typeface="SimHei"/>
                <a:sym typeface="SimHei"/>
              </a:rPr>
              <a:t>覆盖用户登录认证、合同审查工作台、智能生成工作台等核心场景；集成条款智能比对、合规自动检查、AI 智能问答与知识库管理功能，构建全流程合同数字化处理体系。</a:t>
            </a:r>
            <a:endParaRPr lang="en-US" sz="1100"/>
          </a:p>
        </p:txBody>
      </p:sp>
      <p:sp>
        <p:nvSpPr>
          <p:cNvPr id="18" name="AutoShape 18"/>
          <p:cNvSpPr/>
          <p:nvPr/>
        </p:nvSpPr>
        <p:spPr>
          <a:xfrm>
            <a:off x="5930900" y="889000"/>
            <a:ext cx="1028700" cy="7747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4400" b="1" i="0" u="none" strike="noStrike">
                <a:solidFill>
                  <a:srgbClr val="665C8A"/>
                </a:solidFill>
                <a:latin typeface="Noto Sans SC"/>
                <a:ea typeface="Noto Sans SC"/>
                <a:cs typeface="Noto Sans SC"/>
                <a:sym typeface="Noto Sans SC"/>
              </a:rPr>
              <a:t>01</a:t>
            </a:r>
            <a:endParaRPr lang="en-US" sz="1100"/>
          </a:p>
        </p:txBody>
      </p:sp>
      <p:sp>
        <p:nvSpPr>
          <p:cNvPr id="19" name="AutoShape 19"/>
          <p:cNvSpPr/>
          <p:nvPr/>
        </p:nvSpPr>
        <p:spPr>
          <a:xfrm>
            <a:off x="5930900" y="2705100"/>
            <a:ext cx="1028700" cy="7747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4400" b="1" i="0" u="none" strike="noStrike">
                <a:solidFill>
                  <a:srgbClr val="665C8A"/>
                </a:solidFill>
                <a:latin typeface="Noto Sans SC"/>
                <a:ea typeface="Noto Sans SC"/>
                <a:cs typeface="Noto Sans SC"/>
                <a:sym typeface="Noto Sans SC"/>
              </a:rPr>
              <a:t>02</a:t>
            </a:r>
            <a:endParaRPr lang="en-US" sz="1100"/>
          </a:p>
        </p:txBody>
      </p:sp>
      <p:cxnSp>
        <p:nvCxnSpPr>
          <p:cNvPr id="20" name="Connector 20"/>
          <p:cNvCxnSpPr/>
          <p:nvPr/>
        </p:nvCxnSpPr>
        <p:spPr>
          <a:xfrm>
            <a:off x="6070600" y="2209800"/>
            <a:ext cx="4381518" cy="12700"/>
          </a:xfrm>
          <a:prstGeom prst="line">
            <a:avLst/>
          </a:prstGeom>
          <a:solidFill>
            <a:srgbClr val="DEE0E3">
              <a:alpha val="100000"/>
            </a:srgbClr>
          </a:solidFill>
          <a:ln w="12700" cap="flat" cmpd="sng">
            <a:solidFill>
              <a:srgbClr val="8076A3">
                <a:alpha val="100000"/>
              </a:srgbClr>
            </a:solidFill>
            <a:prstDash val="solid"/>
            <a:miter lim="1000000"/>
            <a:headEnd type="none" w="med" len="med"/>
            <a:tailEnd type="none" w="med" len="med"/>
          </a:ln>
        </p:spPr>
      </p:cxnSp>
      <p:sp>
        <p:nvSpPr>
          <p:cNvPr id="21" name="AutoShape 21"/>
          <p:cNvSpPr/>
          <p:nvPr/>
        </p:nvSpPr>
        <p:spPr>
          <a:xfrm>
            <a:off x="7200900" y="4241800"/>
            <a:ext cx="1905000" cy="3429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1600" b="1" i="0" u="none" strike="noStrike">
                <a:solidFill>
                  <a:srgbClr val="665C8A"/>
                </a:solidFill>
                <a:latin typeface="Noto Sans SC"/>
                <a:ea typeface="Noto Sans SC"/>
                <a:cs typeface="Noto Sans SC"/>
                <a:sym typeface="Noto Sans SC"/>
              </a:rPr>
              <a:t>交互体验升级</a:t>
            </a:r>
            <a:endParaRPr lang="en-US" sz="1100"/>
          </a:p>
        </p:txBody>
      </p:sp>
      <p:sp>
        <p:nvSpPr>
          <p:cNvPr id="22" name="AutoShape 22"/>
          <p:cNvSpPr/>
          <p:nvPr/>
        </p:nvSpPr>
        <p:spPr>
          <a:xfrm>
            <a:off x="6921500" y="4711700"/>
            <a:ext cx="3911600" cy="1143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200" b="0" i="0" u="none" strike="noStrike">
                <a:solidFill>
                  <a:srgbClr val="0F1423"/>
                </a:solidFill>
                <a:latin typeface="SimHei"/>
                <a:ea typeface="SimHei"/>
                <a:cs typeface="SimHei"/>
                <a:sym typeface="SimHei"/>
              </a:rPr>
              <a:t>实现 SSE 流式问答输出，打造实时、流畅的对话交互体验；通过可视化标签直观展示合同风险等级，结合组件化表单与动态校验，大幅提升操作效率与用户视觉感知。</a:t>
            </a:r>
            <a:endParaRPr lang="en-US" sz="1100"/>
          </a:p>
        </p:txBody>
      </p:sp>
      <p:sp>
        <p:nvSpPr>
          <p:cNvPr id="23" name="AutoShape 23"/>
          <p:cNvSpPr/>
          <p:nvPr/>
        </p:nvSpPr>
        <p:spPr>
          <a:xfrm>
            <a:off x="5943600" y="4419600"/>
            <a:ext cx="1028700" cy="7747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4400" b="1" i="0" u="none" strike="noStrike">
                <a:solidFill>
                  <a:srgbClr val="665C8A"/>
                </a:solidFill>
                <a:latin typeface="Noto Sans SC"/>
                <a:ea typeface="Noto Sans SC"/>
                <a:cs typeface="Noto Sans SC"/>
                <a:sym typeface="Noto Sans SC"/>
              </a:rPr>
              <a:t>03</a:t>
            </a:r>
            <a:endParaRPr lang="en-US" sz="1100"/>
          </a:p>
        </p:txBody>
      </p:sp>
      <p:cxnSp>
        <p:nvCxnSpPr>
          <p:cNvPr id="24" name="Connector 24"/>
          <p:cNvCxnSpPr/>
          <p:nvPr/>
        </p:nvCxnSpPr>
        <p:spPr>
          <a:xfrm>
            <a:off x="6070600" y="3911600"/>
            <a:ext cx="4381518" cy="12700"/>
          </a:xfrm>
          <a:prstGeom prst="line">
            <a:avLst/>
          </a:prstGeom>
          <a:solidFill>
            <a:srgbClr val="DEE0E3">
              <a:alpha val="100000"/>
            </a:srgbClr>
          </a:solidFill>
          <a:ln w="12700" cap="flat" cmpd="sng">
            <a:solidFill>
              <a:srgbClr val="8076A3">
                <a:alpha val="100000"/>
              </a:srgbClr>
            </a:solidFill>
            <a:prstDash val="solid"/>
            <a:miter lim="1000000"/>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rot="5400000">
            <a:off x="-952500" y="5651500"/>
            <a:ext cx="2133600" cy="2540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rot="5400000">
            <a:off x="-952500" y="3302000"/>
            <a:ext cx="2133600" cy="2540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rot="5400000">
            <a:off x="-952500" y="952500"/>
            <a:ext cx="2133600" cy="254000"/>
          </a:xfrm>
          <a:prstGeom prst="roundRect">
            <a:avLst>
              <a:gd name="adj" fmla="val 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368300" y="215900"/>
            <a:ext cx="1270000" cy="3683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800" b="0" i="0" u="none" strike="noStrike">
                <a:solidFill>
                  <a:srgbClr val="665C8A"/>
                </a:solidFill>
                <a:latin typeface="华康乾隆行楷 W7"/>
                <a:ea typeface="华康乾隆行楷 W7"/>
                <a:cs typeface="华康乾隆行楷 W7"/>
                <a:sym typeface="华康乾隆行楷 W7"/>
              </a:rPr>
              <a:t>所用技术</a:t>
            </a:r>
            <a:endParaRPr lang="en-US" sz="1100"/>
          </a:p>
        </p:txBody>
      </p:sp>
      <p:sp>
        <p:nvSpPr>
          <p:cNvPr id="6" name="AutoShape 6"/>
          <p:cNvSpPr/>
          <p:nvPr/>
        </p:nvSpPr>
        <p:spPr>
          <a:xfrm>
            <a:off x="393700" y="571500"/>
            <a:ext cx="4445000" cy="215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665C8A"/>
                </a:solidFill>
                <a:latin typeface="Arial"/>
                <a:ea typeface="Arial"/>
                <a:cs typeface="Arial"/>
                <a:sym typeface="Arial"/>
              </a:rPr>
              <a:t>Technology Used - Backend &amp; AI</a:t>
            </a:r>
            <a:endParaRPr lang="en-US" sz="1100"/>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22000" y="5651500"/>
            <a:ext cx="1130300" cy="1130300"/>
          </a:xfrm>
          <a:prstGeom prst="rect">
            <a:avLst/>
          </a:prstGeom>
        </p:spPr>
      </p:pic>
      <p:sp>
        <p:nvSpPr>
          <p:cNvPr id="8" name="AutoShape 8"/>
          <p:cNvSpPr/>
          <p:nvPr/>
        </p:nvSpPr>
        <p:spPr>
          <a:xfrm>
            <a:off x="8953500" y="1651000"/>
            <a:ext cx="2540000" cy="41021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235700" y="1651000"/>
            <a:ext cx="2540000" cy="4102100"/>
          </a:xfrm>
          <a:prstGeom prst="roundRect">
            <a:avLst>
              <a:gd name="adj" fmla="val 0"/>
            </a:avLst>
          </a:prstGeom>
          <a:solidFill>
            <a:srgbClr val="AFA9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530600" y="1651000"/>
            <a:ext cx="2540000" cy="41021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12800" y="1651000"/>
            <a:ext cx="2540000" cy="4102100"/>
          </a:xfrm>
          <a:prstGeom prst="roundRect">
            <a:avLst>
              <a:gd name="adj" fmla="val 0"/>
            </a:avLst>
          </a:prstGeom>
          <a:solidFill>
            <a:srgbClr val="DEDCE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193800" y="1968500"/>
            <a:ext cx="9906000" cy="34163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2590800" y="2336800"/>
            <a:ext cx="2794000" cy="342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600" b="1" i="0" u="none" strike="noStrike">
                <a:solidFill>
                  <a:srgbClr val="665C8A"/>
                </a:solidFill>
                <a:latin typeface="Noto Sans SC"/>
                <a:ea typeface="Noto Sans SC"/>
                <a:cs typeface="Noto Sans SC"/>
                <a:sym typeface="Noto Sans SC"/>
              </a:rPr>
              <a:t>01 后端核心框架体系</a:t>
            </a:r>
            <a:endParaRPr lang="en-US" sz="1100"/>
          </a:p>
        </p:txBody>
      </p:sp>
      <p:sp>
        <p:nvSpPr>
          <p:cNvPr id="14" name="AutoShape 14"/>
          <p:cNvSpPr/>
          <p:nvPr/>
        </p:nvSpPr>
        <p:spPr>
          <a:xfrm>
            <a:off x="2590800" y="2654300"/>
            <a:ext cx="3048000" cy="1092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6666"/>
              </a:lnSpc>
              <a:defRPr/>
            </a:pPr>
            <a:r>
              <a:rPr lang="en-US" sz="1200" b="0" i="0" u="none" strike="noStrike">
                <a:solidFill>
                  <a:srgbClr val="374151"/>
                </a:solidFill>
                <a:latin typeface="SimHei"/>
                <a:ea typeface="SimHei"/>
                <a:cs typeface="SimHei"/>
                <a:sym typeface="SimHei"/>
              </a:rPr>
              <a:t>采用FastAPI高性能异步框架，设计8组模块化路由，配合SQLAlchemy实现高效ORM映射，底层对接MySQL数据库，保障高并发场景下的低延迟响应与数据可靠性。</a:t>
            </a:r>
            <a:endParaRPr lang="en-US" sz="1100"/>
          </a:p>
        </p:txBody>
      </p:sp>
      <p:sp>
        <p:nvSpPr>
          <p:cNvPr id="15" name="AutoShape 15"/>
          <p:cNvSpPr/>
          <p:nvPr/>
        </p:nvSpPr>
        <p:spPr>
          <a:xfrm>
            <a:off x="7226300" y="2336800"/>
            <a:ext cx="2794000" cy="342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600" b="1" i="0" u="none" strike="noStrike">
                <a:solidFill>
                  <a:srgbClr val="665C8A"/>
                </a:solidFill>
                <a:latin typeface="Noto Sans SC"/>
                <a:ea typeface="Noto Sans SC"/>
                <a:cs typeface="Noto Sans SC"/>
                <a:sym typeface="Noto Sans SC"/>
              </a:rPr>
              <a:t>02 AI 智能链路与Agent</a:t>
            </a:r>
            <a:endParaRPr lang="en-US" sz="1100"/>
          </a:p>
        </p:txBody>
      </p:sp>
      <p:sp>
        <p:nvSpPr>
          <p:cNvPr id="16" name="AutoShape 16"/>
          <p:cNvSpPr/>
          <p:nvPr/>
        </p:nvSpPr>
        <p:spPr>
          <a:xfrm>
            <a:off x="7226300" y="2641600"/>
            <a:ext cx="3695700" cy="9906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6666"/>
              </a:lnSpc>
              <a:defRPr/>
            </a:pPr>
            <a:r>
              <a:rPr lang="en-US" sz="1200" b="0" i="0" u="none" strike="noStrike">
                <a:solidFill>
                  <a:srgbClr val="374151"/>
                </a:solidFill>
                <a:latin typeface="SimHei"/>
                <a:ea typeface="SimHei"/>
                <a:cs typeface="SimHei"/>
                <a:sym typeface="SimHei"/>
              </a:rPr>
              <a:t>基于LangChain构建核心AI链路，整合RAG检索增强生成链，搭配ReAct风格的Tool-calling Agent，实现大模型对外部工具的自主调度与决策，赋能复杂业务逻辑的智能处理。</a:t>
            </a:r>
            <a:endParaRPr lang="en-US" sz="1100"/>
          </a:p>
        </p:txBody>
      </p:sp>
      <p:sp>
        <p:nvSpPr>
          <p:cNvPr id="17" name="AutoShape 17"/>
          <p:cNvSpPr/>
          <p:nvPr/>
        </p:nvSpPr>
        <p:spPr>
          <a:xfrm>
            <a:off x="1803400" y="2590800"/>
            <a:ext cx="622300" cy="622300"/>
          </a:xfrm>
          <a:prstGeom prst="roundRect">
            <a:avLst>
              <a:gd name="adj" fmla="val 0"/>
            </a:avLst>
          </a:prstGeom>
          <a:solidFill>
            <a:srgbClr val="8076A3">
              <a:alpha val="100000"/>
            </a:srgbClr>
          </a:solid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1800" b="0" i="0" u="none" strike="noStrike">
                <a:solidFill>
                  <a:srgbClr val="FFFFFF"/>
                </a:solidFill>
                <a:latin typeface="Arial"/>
                <a:ea typeface="Arial"/>
                <a:cs typeface="Arial"/>
                <a:sym typeface="Arial"/>
              </a:rPr>
              <a:t>01</a:t>
            </a:r>
            <a:endParaRPr lang="en-US" sz="1100"/>
          </a:p>
        </p:txBody>
      </p:sp>
      <p:sp>
        <p:nvSpPr>
          <p:cNvPr id="18" name="AutoShape 18"/>
          <p:cNvSpPr/>
          <p:nvPr/>
        </p:nvSpPr>
        <p:spPr>
          <a:xfrm>
            <a:off x="6527800" y="2590800"/>
            <a:ext cx="622300" cy="622300"/>
          </a:xfrm>
          <a:prstGeom prst="roundRect">
            <a:avLst>
              <a:gd name="adj" fmla="val 0"/>
            </a:avLst>
          </a:prstGeom>
          <a:solidFill>
            <a:srgbClr val="AFA9C5">
              <a:alpha val="100000"/>
            </a:srgbClr>
          </a:solid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1800" b="0" i="0" u="none" strike="noStrike">
                <a:solidFill>
                  <a:srgbClr val="FFFFFF"/>
                </a:solidFill>
                <a:latin typeface="Arial"/>
                <a:ea typeface="Arial"/>
                <a:cs typeface="Arial"/>
                <a:sym typeface="Arial"/>
              </a:rPr>
              <a:t>02</a:t>
            </a:r>
            <a:endParaRPr lang="en-US" sz="1100"/>
          </a:p>
        </p:txBody>
      </p:sp>
      <p:sp>
        <p:nvSpPr>
          <p:cNvPr id="19" name="AutoShape 19"/>
          <p:cNvSpPr/>
          <p:nvPr/>
        </p:nvSpPr>
        <p:spPr>
          <a:xfrm>
            <a:off x="2590800" y="3949700"/>
            <a:ext cx="2794000" cy="342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600" b="1" i="0" u="none" strike="noStrike">
                <a:solidFill>
                  <a:srgbClr val="665C8A"/>
                </a:solidFill>
                <a:latin typeface="Noto Sans SC"/>
                <a:ea typeface="Noto Sans SC"/>
                <a:cs typeface="Noto Sans SC"/>
                <a:sym typeface="Noto Sans SC"/>
              </a:rPr>
              <a:t>03 模型与检索增强机制</a:t>
            </a:r>
            <a:endParaRPr lang="en-US" sz="1100"/>
          </a:p>
        </p:txBody>
      </p:sp>
      <p:sp>
        <p:nvSpPr>
          <p:cNvPr id="20" name="AutoShape 20"/>
          <p:cNvSpPr/>
          <p:nvPr/>
        </p:nvSpPr>
        <p:spPr>
          <a:xfrm>
            <a:off x="2590800" y="4267200"/>
            <a:ext cx="3340100" cy="977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6666"/>
              </a:lnSpc>
              <a:defRPr/>
            </a:pPr>
            <a:r>
              <a:rPr lang="en-US" sz="1200" b="0" i="0" u="none" strike="noStrike">
                <a:solidFill>
                  <a:srgbClr val="374151"/>
                </a:solidFill>
                <a:latin typeface="SimHei"/>
                <a:ea typeface="SimHei"/>
                <a:cs typeface="SimHei"/>
                <a:sym typeface="SimHei"/>
              </a:rPr>
              <a:t>采用DeepSeek大模型（兼容OpenAI协议），检索层融合BM25关键词匹配与FAISS向量召回，通过RRF算法提升召回精度，解决大模型知识时效性与准确性问题。</a:t>
            </a:r>
            <a:endParaRPr lang="en-US" sz="1100"/>
          </a:p>
        </p:txBody>
      </p:sp>
      <p:sp>
        <p:nvSpPr>
          <p:cNvPr id="21" name="AutoShape 21"/>
          <p:cNvSpPr/>
          <p:nvPr/>
        </p:nvSpPr>
        <p:spPr>
          <a:xfrm>
            <a:off x="7226300" y="3949700"/>
            <a:ext cx="2794000" cy="342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600" b="1" i="0" u="none" strike="noStrike">
                <a:solidFill>
                  <a:srgbClr val="665C8A"/>
                </a:solidFill>
                <a:latin typeface="Noto Sans SC"/>
                <a:ea typeface="Noto Sans SC"/>
                <a:cs typeface="Noto Sans SC"/>
                <a:sym typeface="Noto Sans SC"/>
              </a:rPr>
              <a:t>04 安全管控与容器化部署</a:t>
            </a:r>
            <a:endParaRPr lang="en-US" sz="1100"/>
          </a:p>
        </p:txBody>
      </p:sp>
      <p:sp>
        <p:nvSpPr>
          <p:cNvPr id="22" name="AutoShape 22"/>
          <p:cNvSpPr/>
          <p:nvPr/>
        </p:nvSpPr>
        <p:spPr>
          <a:xfrm>
            <a:off x="7226300" y="4305300"/>
            <a:ext cx="3695700" cy="8636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6666"/>
              </a:lnSpc>
              <a:defRPr/>
            </a:pPr>
            <a:r>
              <a:rPr lang="en-US" sz="1200" b="0" i="0" u="none" strike="noStrike">
                <a:solidFill>
                  <a:srgbClr val="374151"/>
                </a:solidFill>
                <a:latin typeface="SimHei"/>
                <a:ea typeface="SimHei"/>
                <a:cs typeface="SimHei"/>
                <a:sym typeface="SimHei"/>
              </a:rPr>
              <a:t>实现JWT鉴权与Admin/User细粒度角色权限控制；采用Docker Compose进行容器化编排，实现服务的一键部署、环境隔离与快速扩展，保障系统运维效率。</a:t>
            </a:r>
            <a:endParaRPr lang="en-US" sz="1100"/>
          </a:p>
        </p:txBody>
      </p:sp>
      <p:sp>
        <p:nvSpPr>
          <p:cNvPr id="23" name="AutoShape 23"/>
          <p:cNvSpPr/>
          <p:nvPr/>
        </p:nvSpPr>
        <p:spPr>
          <a:xfrm>
            <a:off x="1803400" y="4203700"/>
            <a:ext cx="622300" cy="622300"/>
          </a:xfrm>
          <a:prstGeom prst="roundRect">
            <a:avLst>
              <a:gd name="adj" fmla="val 0"/>
            </a:avLst>
          </a:prstGeom>
          <a:solidFill>
            <a:srgbClr val="CCC8DA">
              <a:alpha val="100000"/>
            </a:srgbClr>
          </a:solid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1800" b="0" i="0" u="none" strike="noStrike">
                <a:solidFill>
                  <a:srgbClr val="FFFFFF"/>
                </a:solidFill>
                <a:latin typeface="Arial"/>
                <a:ea typeface="Arial"/>
                <a:cs typeface="Arial"/>
                <a:sym typeface="Arial"/>
              </a:rPr>
              <a:t>03</a:t>
            </a:r>
            <a:endParaRPr lang="en-US" sz="1100"/>
          </a:p>
        </p:txBody>
      </p:sp>
      <p:sp>
        <p:nvSpPr>
          <p:cNvPr id="24" name="AutoShape 24"/>
          <p:cNvSpPr/>
          <p:nvPr/>
        </p:nvSpPr>
        <p:spPr>
          <a:xfrm>
            <a:off x="6527800" y="4203700"/>
            <a:ext cx="622300" cy="622300"/>
          </a:xfrm>
          <a:prstGeom prst="roundRect">
            <a:avLst>
              <a:gd name="adj" fmla="val 0"/>
            </a:avLst>
          </a:prstGeom>
          <a:solidFill>
            <a:srgbClr val="DEDCE7">
              <a:alpha val="100000"/>
            </a:srgbClr>
          </a:solid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1800" b="0" i="0" u="none" strike="noStrike">
                <a:solidFill>
                  <a:srgbClr val="FFFFFF"/>
                </a:solidFill>
                <a:latin typeface="Arial"/>
                <a:ea typeface="Arial"/>
                <a:cs typeface="Arial"/>
                <a:sym typeface="Arial"/>
              </a:rPr>
              <a:t>04</a:t>
            </a:r>
            <a:endParaRPr lang="en-US" sz="1100"/>
          </a:p>
        </p:txBody>
      </p:sp>
      <p:sp>
        <p:nvSpPr>
          <p:cNvPr id="25" name="AutoShape 25"/>
          <p:cNvSpPr/>
          <p:nvPr/>
        </p:nvSpPr>
        <p:spPr>
          <a:xfrm>
            <a:off x="812800" y="939800"/>
            <a:ext cx="3810000" cy="457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400" b="1" i="0" u="none" strike="noStrike">
                <a:solidFill>
                  <a:srgbClr val="665C8A"/>
                </a:solidFill>
                <a:latin typeface="微软雅黑"/>
                <a:ea typeface="微软雅黑"/>
                <a:cs typeface="微软雅黑"/>
                <a:sym typeface="微软雅黑"/>
              </a:rPr>
              <a:t>后端与AI架构</a:t>
            </a:r>
            <a:endParaRPr lang="en-US" sz="1100"/>
          </a:p>
        </p:txBody>
      </p:sp>
      <p:sp>
        <p:nvSpPr>
          <p:cNvPr id="26" name="AutoShape 26"/>
          <p:cNvSpPr/>
          <p:nvPr/>
        </p:nvSpPr>
        <p:spPr>
          <a:xfrm>
            <a:off x="6070600" y="584200"/>
            <a:ext cx="5080000" cy="304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400" b="0" i="0" u="none" strike="noStrike">
                <a:solidFill>
                  <a:srgbClr val="969696"/>
                </a:solidFill>
                <a:latin typeface="微软雅黑"/>
                <a:ea typeface="微软雅黑"/>
                <a:cs typeface="微软雅黑"/>
                <a:sym typeface="微软雅黑"/>
              </a:rPr>
              <a:t>构建高效、智能、安全的后端系统</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 y="4191000"/>
            <a:ext cx="12217400" cy="14097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4483100" y="2197100"/>
            <a:ext cx="5422900" cy="26797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362200" y="2197100"/>
            <a:ext cx="1968500" cy="2679700"/>
          </a:xfrm>
          <a:prstGeom prst="roundRect">
            <a:avLst>
              <a:gd name="adj" fmla="val 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V="1">
            <a:off x="2717800" y="2997200"/>
            <a:ext cx="1244600" cy="1231900"/>
          </a:xfrm>
          <a:prstGeom prst="rect">
            <a:avLst/>
          </a:prstGeom>
        </p:spPr>
      </p:pic>
      <p:sp>
        <p:nvSpPr>
          <p:cNvPr id="6" name="AutoShape 6"/>
          <p:cNvSpPr/>
          <p:nvPr/>
        </p:nvSpPr>
        <p:spPr>
          <a:xfrm>
            <a:off x="4851400" y="2882900"/>
            <a:ext cx="2209800" cy="711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4000" b="0" i="0" u="none" strike="noStrike">
                <a:solidFill>
                  <a:srgbClr val="FFFFFF"/>
                </a:solidFill>
                <a:latin typeface="华康乾隆行楷 W7"/>
                <a:ea typeface="华康乾隆行楷 W7"/>
                <a:cs typeface="华康乾隆行楷 W7"/>
                <a:sym typeface="华康乾隆行楷 W7"/>
              </a:rPr>
              <a:t>难点突破</a:t>
            </a:r>
            <a:endParaRPr lang="en-US" sz="1100"/>
          </a:p>
        </p:txBody>
      </p:sp>
      <p:sp>
        <p:nvSpPr>
          <p:cNvPr id="7" name="AutoShape 7"/>
          <p:cNvSpPr/>
          <p:nvPr/>
        </p:nvSpPr>
        <p:spPr>
          <a:xfrm>
            <a:off x="4940300" y="3606800"/>
            <a:ext cx="2209800" cy="584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1600" b="0" i="0" u="none" strike="noStrike">
                <a:solidFill>
                  <a:srgbClr val="FFFFFF"/>
                </a:solidFill>
                <a:latin typeface="Noto Sans SC"/>
                <a:ea typeface="Noto Sans SC"/>
                <a:cs typeface="Noto Sans SC"/>
                <a:sym typeface="Noto Sans SC"/>
              </a:rPr>
              <a:t>Breakthrough</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4800" y="0"/>
            <a:ext cx="4749800" cy="6870700"/>
          </a:xfrm>
          <a:prstGeom prst="parallelogram">
            <a:avLst>
              <a:gd name="adj" fmla="val 2500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188200" y="0"/>
            <a:ext cx="4749800" cy="6870700"/>
          </a:xfrm>
          <a:prstGeom prst="parallelogram">
            <a:avLst>
              <a:gd name="adj" fmla="val 2500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35400" y="0"/>
            <a:ext cx="4660900" cy="6870700"/>
          </a:xfrm>
          <a:prstGeom prst="parallelogram">
            <a:avLst>
              <a:gd name="adj" fmla="val 25000"/>
            </a:avLst>
          </a:prstGeom>
          <a:solidFill>
            <a:srgbClr val="7F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816100" y="838200"/>
            <a:ext cx="8902700" cy="5435600"/>
          </a:xfrm>
          <a:prstGeom prst="parallelogram">
            <a:avLst>
              <a:gd name="adj" fmla="val 17610"/>
            </a:avLst>
          </a:prstGeom>
          <a:solidFill>
            <a:srgbClr val="FFFFFF">
              <a:alpha val="100000"/>
            </a:srgbClr>
          </a:solidFill>
          <a:ln w="12700" cap="flat" cmpd="sng">
            <a:solidFill>
              <a:srgbClr val="FFFFFF">
                <a:alpha val="100000"/>
              </a:srgbClr>
            </a:solidFill>
            <a:prstDash val="solid"/>
            <a:miter lim="1000000"/>
          </a:ln>
        </p:spPr>
        <p:txBody>
          <a:bodyPr vert="horz" wrap="square" lIns="63500" tIns="63500" rIns="63500" bIns="63500" rtlCol="0" anchor="ctr"/>
          <a:lstStyle/>
          <a:p>
            <a:pPr algn="ctr">
              <a:defRPr/>
            </a:pPr>
            <a:endParaRPr/>
          </a:p>
        </p:txBody>
      </p:sp>
      <p:sp>
        <p:nvSpPr>
          <p:cNvPr id="6" name="AutoShape 6"/>
          <p:cNvSpPr/>
          <p:nvPr/>
        </p:nvSpPr>
        <p:spPr>
          <a:xfrm>
            <a:off x="304800" y="215900"/>
            <a:ext cx="1498600" cy="520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800" b="0" i="0" u="none" strike="noStrike">
                <a:solidFill>
                  <a:srgbClr val="665C8A"/>
                </a:solidFill>
                <a:latin typeface="华康乾隆行楷 W7"/>
                <a:ea typeface="华康乾隆行楷 W7"/>
                <a:cs typeface="华康乾隆行楷 W7"/>
                <a:sym typeface="华康乾隆行楷 W7"/>
              </a:rPr>
              <a:t>难点</a:t>
            </a:r>
            <a:r>
              <a:rPr lang="en-US" sz="1600" b="0" i="0" u="none" strike="noStrike">
                <a:solidFill>
                  <a:srgbClr val="1F2329"/>
                </a:solidFill>
                <a:latin typeface="Noto Sans SC"/>
                <a:ea typeface="Noto Sans SC"/>
                <a:cs typeface="Noto Sans SC"/>
                <a:sym typeface="Noto Sans SC"/>
              </a:rPr>
              <a:t> </a:t>
            </a:r>
            <a:r>
              <a:rPr lang="en-US" sz="2400" b="0" i="0" u="none" strike="noStrike">
                <a:solidFill>
                  <a:srgbClr val="665C8A"/>
                </a:solidFill>
                <a:latin typeface="华康乾隆行楷 W7"/>
                <a:ea typeface="华康乾隆行楷 W7"/>
                <a:cs typeface="华康乾隆行楷 W7"/>
                <a:sym typeface="华康乾隆行楷 W7"/>
              </a:rPr>
              <a:t>突破</a:t>
            </a:r>
            <a:endParaRPr lang="en-US" sz="1100"/>
          </a:p>
        </p:txBody>
      </p:sp>
      <p:sp>
        <p:nvSpPr>
          <p:cNvPr id="7" name="AutoShape 7"/>
          <p:cNvSpPr/>
          <p:nvPr/>
        </p:nvSpPr>
        <p:spPr>
          <a:xfrm>
            <a:off x="431800" y="571500"/>
            <a:ext cx="12192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665C8A"/>
                </a:solidFill>
                <a:latin typeface="Noto Sans SC"/>
                <a:ea typeface="Noto Sans SC"/>
                <a:cs typeface="Noto Sans SC"/>
                <a:sym typeface="Noto Sans SC"/>
              </a:rPr>
              <a:t>Breakthrough</a:t>
            </a:r>
            <a:endParaRPr lang="en-US" sz="1100"/>
          </a:p>
        </p:txBody>
      </p:sp>
      <p:sp>
        <p:nvSpPr>
          <p:cNvPr id="8" name="AutoShape 8"/>
          <p:cNvSpPr/>
          <p:nvPr/>
        </p:nvSpPr>
        <p:spPr>
          <a:xfrm>
            <a:off x="2679700" y="1417031"/>
            <a:ext cx="6985000" cy="5105400"/>
          </a:xfrm>
          <a:prstGeom prst="rect">
            <a:avLst/>
          </a:prstGeom>
          <a:noFill/>
          <a:ln w="12700" cap="flat" cmpd="sng">
            <a:noFill/>
            <a:prstDash val="solid"/>
            <a:round/>
          </a:ln>
        </p:spPr>
        <p:txBody>
          <a:bodyPr vert="horz" wrap="square" lIns="88900" tIns="50800" rIns="88900" bIns="50800" rtlCol="0" anchor="t" anchorCtr="0"/>
          <a:lstStyle/>
          <a:p>
            <a:pPr marL="0" indent="457200" algn="l">
              <a:lnSpc>
                <a:spcPct val="116666"/>
              </a:lnSpc>
              <a:defRPr/>
            </a:pPr>
            <a:r>
              <a:rPr lang="en-US" sz="1800" b="1" i="0" u="none" strike="noStrike" dirty="0">
                <a:solidFill>
                  <a:srgbClr val="000000"/>
                </a:solidFill>
                <a:latin typeface="Songti SC"/>
                <a:ea typeface="Songti SC"/>
                <a:cs typeface="Songti SC"/>
                <a:sym typeface="Songti SC"/>
              </a:rPr>
              <a:t>01. </a:t>
            </a:r>
            <a:r>
              <a:rPr lang="en-US" sz="1800" b="1" i="0" u="none" strike="noStrike" dirty="0" err="1">
                <a:solidFill>
                  <a:srgbClr val="000000"/>
                </a:solidFill>
                <a:latin typeface="Songti SC"/>
                <a:ea typeface="Songti SC"/>
                <a:cs typeface="Songti SC"/>
                <a:sym typeface="Songti SC"/>
              </a:rPr>
              <a:t>合同文档的精准解析与按条切分</a:t>
            </a:r>
            <a:endParaRPr lang="en-US" sz="1100" dirty="0"/>
          </a:p>
          <a:p>
            <a:pPr marL="0" indent="457200" algn="l">
              <a:lnSpc>
                <a:spcPct val="116666"/>
              </a:lnSpc>
            </a:pPr>
            <a:r>
              <a:rPr lang="en-US" sz="1600" b="1" i="0" u="none" strike="noStrike" dirty="0" err="1">
                <a:solidFill>
                  <a:srgbClr val="505050"/>
                </a:solidFill>
                <a:latin typeface="Songti SC"/>
                <a:ea typeface="Songti SC"/>
                <a:cs typeface="Songti SC"/>
                <a:sym typeface="Songti SC"/>
              </a:rPr>
              <a:t>痛点难点：</a:t>
            </a:r>
            <a:r>
              <a:rPr lang="en-US" sz="1600" b="0" i="0" u="none" strike="noStrike" dirty="0" err="1">
                <a:solidFill>
                  <a:srgbClr val="505050"/>
                </a:solidFill>
                <a:latin typeface="Songti SC"/>
                <a:ea typeface="Songti SC"/>
                <a:cs typeface="Songti SC"/>
                <a:sym typeface="Songti SC"/>
              </a:rPr>
              <a:t>传统文本提取易丢失条款层级结构与上下文逻辑关系，导致合同审查时条款错位、关键信息遗漏，难以支撑精准的合规分析</a:t>
            </a:r>
            <a:r>
              <a:rPr lang="en-US" sz="1600" b="0" i="0" u="none" strike="noStrike" dirty="0">
                <a:solidFill>
                  <a:srgbClr val="505050"/>
                </a:solidFill>
                <a:latin typeface="Songti SC"/>
                <a:ea typeface="Songti SC"/>
                <a:cs typeface="Songti SC"/>
                <a:sym typeface="Songti SC"/>
              </a:rPr>
              <a:t>。</a:t>
            </a:r>
          </a:p>
          <a:p>
            <a:pPr marL="0" indent="457200" algn="l">
              <a:lnSpc>
                <a:spcPct val="116666"/>
              </a:lnSpc>
            </a:pPr>
            <a:r>
              <a:rPr lang="en-US" sz="1600" b="1" i="0" u="none" strike="noStrike" dirty="0">
                <a:solidFill>
                  <a:srgbClr val="505050"/>
                </a:solidFill>
                <a:latin typeface="Songti SC"/>
                <a:ea typeface="Songti SC"/>
                <a:cs typeface="Songti SC"/>
                <a:sym typeface="Songti SC"/>
              </a:rPr>
              <a:t>解决方案：</a:t>
            </a:r>
            <a:r>
              <a:rPr lang="en-US" sz="1600" b="0" i="0" u="none" strike="noStrike" dirty="0">
                <a:solidFill>
                  <a:srgbClr val="505050"/>
                </a:solidFill>
                <a:latin typeface="Songti SC"/>
                <a:ea typeface="Songti SC"/>
                <a:cs typeface="Songti SC"/>
                <a:sym typeface="Songti SC"/>
              </a:rPr>
              <a:t>构建多格式文档解析引擎，适配PDF、Word等主流格式；基于正则匹配与语义边界识别实现条款智能切分，完整保留条款层级与逻辑关联，确保审查基础数据的准确性。</a:t>
            </a:r>
          </a:p>
          <a:p>
            <a:pPr marL="0" indent="457200" algn="l">
              <a:lnSpc>
                <a:spcPct val="116666"/>
              </a:lnSpc>
            </a:pPr>
            <a:endParaRPr lang="en-US" sz="1600" b="0" i="0" u="none" strike="noStrike" dirty="0">
              <a:solidFill>
                <a:srgbClr val="505050"/>
              </a:solidFill>
              <a:latin typeface="Songti SC"/>
              <a:ea typeface="Songti SC"/>
              <a:cs typeface="Songti SC"/>
              <a:sym typeface="Songti SC"/>
            </a:endParaRPr>
          </a:p>
          <a:p>
            <a:pPr marL="0" indent="457200" algn="l">
              <a:lnSpc>
                <a:spcPct val="116666"/>
              </a:lnSpc>
            </a:pPr>
            <a:r>
              <a:rPr lang="en-US" sz="1800" b="1" i="0" u="none" strike="noStrike" dirty="0">
                <a:solidFill>
                  <a:srgbClr val="000000"/>
                </a:solidFill>
                <a:latin typeface="Songti SC"/>
                <a:ea typeface="Songti SC"/>
                <a:cs typeface="Songti SC"/>
                <a:sym typeface="Songti SC"/>
              </a:rPr>
              <a:t>02. </a:t>
            </a:r>
            <a:r>
              <a:rPr lang="en-US" sz="1800" b="1" i="0" u="none" strike="noStrike" dirty="0" err="1">
                <a:solidFill>
                  <a:srgbClr val="000000"/>
                </a:solidFill>
                <a:latin typeface="Songti SC"/>
                <a:ea typeface="Songti SC"/>
                <a:cs typeface="Songti SC"/>
                <a:sym typeface="Songti SC"/>
              </a:rPr>
              <a:t>混合检索的准确度与「语义断裂」难题</a:t>
            </a:r>
            <a:endParaRPr lang="en-US" sz="1800" b="1" i="0" u="none" strike="noStrike" dirty="0">
              <a:solidFill>
                <a:srgbClr val="000000"/>
              </a:solidFill>
              <a:latin typeface="Songti SC"/>
              <a:ea typeface="Songti SC"/>
              <a:cs typeface="Songti SC"/>
              <a:sym typeface="Songti SC"/>
            </a:endParaRPr>
          </a:p>
          <a:p>
            <a:pPr marL="0" indent="457200" algn="l">
              <a:lnSpc>
                <a:spcPct val="116666"/>
              </a:lnSpc>
            </a:pPr>
            <a:r>
              <a:rPr lang="en-US" sz="1600" b="1" i="0" u="none" strike="noStrike" dirty="0">
                <a:solidFill>
                  <a:srgbClr val="505050"/>
                </a:solidFill>
                <a:latin typeface="Songti SC"/>
                <a:ea typeface="Songti SC"/>
                <a:cs typeface="Songti SC"/>
                <a:sym typeface="Songti SC"/>
              </a:rPr>
              <a:t>痛点难点：</a:t>
            </a:r>
            <a:r>
              <a:rPr lang="en-US" sz="1600" b="0" i="0" u="none" strike="noStrike" dirty="0">
                <a:solidFill>
                  <a:srgbClr val="505050"/>
                </a:solidFill>
                <a:latin typeface="Songti SC"/>
                <a:ea typeface="Songti SC"/>
                <a:cs typeface="Songti SC"/>
                <a:sym typeface="Songti SC"/>
              </a:rPr>
              <a:t>纯向量检索易忽略字面精确匹配，导致关键术语漏检；文本切分过短会丢失语境，切分过长则造成语义模糊，形成“语义断裂”，影响检索召回的精准度。</a:t>
            </a:r>
          </a:p>
          <a:p>
            <a:pPr marL="0" indent="457200" algn="l">
              <a:lnSpc>
                <a:spcPct val="116666"/>
              </a:lnSpc>
            </a:pPr>
            <a:r>
              <a:rPr lang="en-US" sz="1600" b="1" i="0" u="none" strike="noStrike" dirty="0">
                <a:solidFill>
                  <a:srgbClr val="505050"/>
                </a:solidFill>
                <a:latin typeface="Songti SC"/>
                <a:ea typeface="Songti SC"/>
                <a:cs typeface="Songti SC"/>
                <a:sym typeface="Songti SC"/>
              </a:rPr>
              <a:t>解决方案：</a:t>
            </a:r>
            <a:r>
              <a:rPr lang="en-US" sz="1600" b="0" i="0" u="none" strike="noStrike" dirty="0">
                <a:solidFill>
                  <a:srgbClr val="505050"/>
                </a:solidFill>
                <a:latin typeface="Songti SC"/>
                <a:ea typeface="Songti SC"/>
                <a:cs typeface="Songti SC"/>
                <a:sym typeface="Songti SC"/>
              </a:rPr>
              <a:t>采用BM25关键词检索与向量语义召回双路并行，结合RRF（Reciprocal Rank </a:t>
            </a:r>
            <a:r>
              <a:rPr lang="en-US" sz="1600" b="0" i="0" u="none" strike="noStrike" dirty="0" err="1">
                <a:solidFill>
                  <a:srgbClr val="505050"/>
                </a:solidFill>
                <a:latin typeface="Songti SC"/>
                <a:ea typeface="Songti SC"/>
                <a:cs typeface="Songti SC"/>
                <a:sym typeface="Songti SC"/>
              </a:rPr>
              <a:t>Fusion）算法融合结果，既保障关键词的精确匹配，又兼顾深层语义理解，有效解决语义断裂问题，提升检索准确度</a:t>
            </a:r>
            <a:r>
              <a:rPr lang="en-US" sz="1600" b="0" i="0" u="none" strike="noStrike" dirty="0">
                <a:solidFill>
                  <a:srgbClr val="505050"/>
                </a:solidFill>
                <a:latin typeface="Songti SC"/>
                <a:ea typeface="Songti SC"/>
                <a:cs typeface="Songti SC"/>
                <a:sym typeface="Songti SC"/>
              </a:rPr>
              <a:t>。</a:t>
            </a: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254000"/>
            <a:ext cx="596900" cy="5969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4800" y="0"/>
            <a:ext cx="4749800" cy="6870700"/>
          </a:xfrm>
          <a:prstGeom prst="parallelogram">
            <a:avLst>
              <a:gd name="adj" fmla="val 2500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188200" y="0"/>
            <a:ext cx="4749800" cy="6870700"/>
          </a:xfrm>
          <a:prstGeom prst="parallelogram">
            <a:avLst>
              <a:gd name="adj" fmla="val 2500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35400" y="0"/>
            <a:ext cx="4660900" cy="6870700"/>
          </a:xfrm>
          <a:prstGeom prst="parallelogram">
            <a:avLst>
              <a:gd name="adj" fmla="val 25000"/>
            </a:avLst>
          </a:prstGeom>
          <a:solidFill>
            <a:srgbClr val="7F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816100" y="838200"/>
            <a:ext cx="8902700" cy="5435600"/>
          </a:xfrm>
          <a:prstGeom prst="parallelogram">
            <a:avLst>
              <a:gd name="adj" fmla="val 17610"/>
            </a:avLst>
          </a:prstGeom>
          <a:solidFill>
            <a:srgbClr val="FFFFFF">
              <a:alpha val="100000"/>
            </a:srgbClr>
          </a:solidFill>
          <a:ln w="12700" cap="flat" cmpd="sng">
            <a:solidFill>
              <a:srgbClr val="FFFFFF">
                <a:alpha val="100000"/>
              </a:srgbClr>
            </a:solidFill>
            <a:prstDash val="solid"/>
            <a:miter lim="1000000"/>
          </a:ln>
        </p:spPr>
        <p:txBody>
          <a:bodyPr vert="horz" wrap="square" lIns="63500" tIns="63500" rIns="63500" bIns="63500" rtlCol="0" anchor="ctr"/>
          <a:lstStyle/>
          <a:p>
            <a:pPr algn="ctr">
              <a:defRPr/>
            </a:pPr>
            <a:endParaRPr/>
          </a:p>
        </p:txBody>
      </p:sp>
      <p:sp>
        <p:nvSpPr>
          <p:cNvPr id="6" name="AutoShape 6"/>
          <p:cNvSpPr/>
          <p:nvPr/>
        </p:nvSpPr>
        <p:spPr>
          <a:xfrm>
            <a:off x="304800" y="215900"/>
            <a:ext cx="1498600" cy="520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800" b="0" i="0" u="none" strike="noStrike">
                <a:solidFill>
                  <a:srgbClr val="665C8A"/>
                </a:solidFill>
                <a:latin typeface="华康乾隆行楷 W7"/>
                <a:ea typeface="华康乾隆行楷 W7"/>
                <a:cs typeface="华康乾隆行楷 W7"/>
                <a:sym typeface="华康乾隆行楷 W7"/>
              </a:rPr>
              <a:t>难点</a:t>
            </a:r>
            <a:r>
              <a:rPr lang="en-US" sz="1600" b="0" i="0" u="none" strike="noStrike">
                <a:solidFill>
                  <a:srgbClr val="1F2329"/>
                </a:solidFill>
                <a:latin typeface="Noto Sans SC"/>
                <a:ea typeface="Noto Sans SC"/>
                <a:cs typeface="Noto Sans SC"/>
                <a:sym typeface="Noto Sans SC"/>
              </a:rPr>
              <a:t> </a:t>
            </a:r>
            <a:r>
              <a:rPr lang="en-US" sz="2400" b="0" i="0" u="none" strike="noStrike">
                <a:solidFill>
                  <a:srgbClr val="665C8A"/>
                </a:solidFill>
                <a:latin typeface="华康乾隆行楷 W7"/>
                <a:ea typeface="华康乾隆行楷 W7"/>
                <a:cs typeface="华康乾隆行楷 W7"/>
                <a:sym typeface="华康乾隆行楷 W7"/>
              </a:rPr>
              <a:t>突破</a:t>
            </a:r>
            <a:endParaRPr lang="en-US" sz="1100"/>
          </a:p>
        </p:txBody>
      </p:sp>
      <p:sp>
        <p:nvSpPr>
          <p:cNvPr id="7" name="AutoShape 7"/>
          <p:cNvSpPr/>
          <p:nvPr/>
        </p:nvSpPr>
        <p:spPr>
          <a:xfrm>
            <a:off x="431800" y="571500"/>
            <a:ext cx="12192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665C8A"/>
                </a:solidFill>
                <a:latin typeface="Noto Sans SC"/>
                <a:ea typeface="Noto Sans SC"/>
                <a:cs typeface="Noto Sans SC"/>
                <a:sym typeface="Noto Sans SC"/>
              </a:rPr>
              <a:t>Breakthrough</a:t>
            </a:r>
            <a:endParaRPr lang="en-US" sz="1100"/>
          </a:p>
        </p:txBody>
      </p:sp>
      <p:sp>
        <p:nvSpPr>
          <p:cNvPr id="8" name="AutoShape 8"/>
          <p:cNvSpPr/>
          <p:nvPr/>
        </p:nvSpPr>
        <p:spPr>
          <a:xfrm>
            <a:off x="2725641" y="1136650"/>
            <a:ext cx="6985000" cy="5435600"/>
          </a:xfrm>
          <a:prstGeom prst="rect">
            <a:avLst/>
          </a:prstGeom>
          <a:noFill/>
          <a:ln w="12700" cap="flat" cmpd="sng">
            <a:noFill/>
            <a:prstDash val="solid"/>
            <a:round/>
          </a:ln>
        </p:spPr>
        <p:txBody>
          <a:bodyPr vert="horz" wrap="square" lIns="88900" tIns="50800" rIns="88900" bIns="50800" rtlCol="0" anchor="t" anchorCtr="0"/>
          <a:lstStyle/>
          <a:p>
            <a:pPr marL="0" indent="457200" algn="l">
              <a:lnSpc>
                <a:spcPct val="108333"/>
              </a:lnSpc>
              <a:defRPr/>
            </a:pPr>
            <a:r>
              <a:rPr lang="en-US" sz="1800" b="1" i="0" u="none" strike="noStrike" dirty="0">
                <a:solidFill>
                  <a:srgbClr val="000000"/>
                </a:solidFill>
                <a:latin typeface="Songti SC"/>
                <a:ea typeface="Songti SC"/>
                <a:cs typeface="Songti SC"/>
                <a:sym typeface="Songti SC"/>
              </a:rPr>
              <a:t>03. </a:t>
            </a:r>
            <a:r>
              <a:rPr lang="en-US" sz="1800" b="1" i="0" u="none" strike="noStrike" dirty="0" err="1">
                <a:solidFill>
                  <a:srgbClr val="000000"/>
                </a:solidFill>
                <a:latin typeface="Songti SC"/>
                <a:ea typeface="Songti SC"/>
                <a:cs typeface="Songti SC"/>
                <a:sym typeface="Songti SC"/>
              </a:rPr>
              <a:t>大模型「幻觉」控制与防无依据输出</a:t>
            </a:r>
            <a:endParaRPr lang="en-US" sz="1100" dirty="0"/>
          </a:p>
          <a:p>
            <a:pPr marL="0" indent="457200" algn="l">
              <a:lnSpc>
                <a:spcPct val="108333"/>
              </a:lnSpc>
            </a:pPr>
            <a:r>
              <a:rPr lang="en-US" sz="1400" b="1" i="0" u="none" strike="noStrike" dirty="0" err="1">
                <a:solidFill>
                  <a:srgbClr val="595959"/>
                </a:solidFill>
                <a:latin typeface="Noto Sans SC"/>
                <a:ea typeface="Noto Sans SC"/>
                <a:cs typeface="Noto Sans SC"/>
                <a:sym typeface="Noto Sans SC"/>
              </a:rPr>
              <a:t>核心痛点：</a:t>
            </a:r>
            <a:r>
              <a:rPr lang="en-US" sz="1400" b="0" i="0" u="none" strike="noStrike" dirty="0" err="1">
                <a:solidFill>
                  <a:srgbClr val="595959"/>
                </a:solidFill>
                <a:latin typeface="Noto Sans SC"/>
                <a:ea typeface="Noto Sans SC"/>
                <a:cs typeface="Noto Sans SC"/>
                <a:sym typeface="Noto Sans SC"/>
              </a:rPr>
              <a:t>合同审查对法律依据要求绝对严谨，大模型易虚构法条或案例，导致审查结果失真，严重影响合规性与可信度</a:t>
            </a:r>
            <a:r>
              <a:rPr lang="en-US" sz="1400" b="0" i="0" u="none" strike="noStrike" dirty="0">
                <a:solidFill>
                  <a:srgbClr val="595959"/>
                </a:solidFill>
                <a:latin typeface="Noto Sans SC"/>
                <a:ea typeface="Noto Sans SC"/>
                <a:cs typeface="Noto Sans SC"/>
                <a:sym typeface="Noto Sans SC"/>
              </a:rPr>
              <a:t>。</a:t>
            </a:r>
          </a:p>
          <a:p>
            <a:pPr marL="0" indent="457200" algn="l">
              <a:lnSpc>
                <a:spcPct val="108333"/>
              </a:lnSpc>
            </a:pPr>
            <a:r>
              <a:rPr lang="en-US" sz="1400" b="1" i="0" u="none" strike="noStrike" dirty="0" err="1">
                <a:solidFill>
                  <a:srgbClr val="595959"/>
                </a:solidFill>
                <a:latin typeface="Noto Sans SC"/>
                <a:ea typeface="Noto Sans SC"/>
                <a:cs typeface="Noto Sans SC"/>
                <a:sym typeface="Noto Sans SC"/>
              </a:rPr>
              <a:t>破局对策：</a:t>
            </a:r>
            <a:r>
              <a:rPr lang="en-US" sz="1400" b="0" i="0" u="none" strike="noStrike" dirty="0" err="1">
                <a:solidFill>
                  <a:srgbClr val="595959"/>
                </a:solidFill>
                <a:latin typeface="Noto Sans SC"/>
                <a:ea typeface="Noto Sans SC"/>
                <a:cs typeface="Noto Sans SC"/>
                <a:sym typeface="Noto Sans SC"/>
              </a:rPr>
              <a:t>实施“三重约束机制</a:t>
            </a:r>
            <a:r>
              <a:rPr lang="en-US" sz="1400" b="0" i="0" u="none" strike="noStrike" dirty="0">
                <a:solidFill>
                  <a:srgbClr val="595959"/>
                </a:solidFill>
                <a:latin typeface="Noto Sans SC"/>
                <a:ea typeface="Noto Sans SC"/>
                <a:cs typeface="Noto Sans SC"/>
                <a:sym typeface="Noto Sans SC"/>
              </a:rPr>
              <a:t>”—— </a:t>
            </a:r>
            <a:r>
              <a:rPr lang="en-US" sz="1400" b="0" i="0" u="none" strike="noStrike" dirty="0" err="1">
                <a:solidFill>
                  <a:srgbClr val="595959"/>
                </a:solidFill>
                <a:latin typeface="Noto Sans SC"/>
                <a:ea typeface="Noto Sans SC"/>
                <a:cs typeface="Noto Sans SC"/>
                <a:sym typeface="Noto Sans SC"/>
              </a:rPr>
              <a:t>检索不到有效法律依据时拒绝输出；强制模型在响应中引用原文条款（绑定</a:t>
            </a:r>
            <a:r>
              <a:rPr lang="en-US" sz="1400" b="0" i="0" u="none" strike="noStrike" dirty="0">
                <a:solidFill>
                  <a:srgbClr val="595959"/>
                </a:solidFill>
                <a:latin typeface="Noto Sans SC"/>
                <a:ea typeface="Noto Sans SC"/>
                <a:cs typeface="Noto Sans SC"/>
                <a:sym typeface="Noto Sans SC"/>
              </a:rPr>
              <a:t> </a:t>
            </a:r>
            <a:r>
              <a:rPr lang="en-US" sz="1400" b="0" i="0" u="none" strike="noStrike" dirty="0" err="1">
                <a:solidFill>
                  <a:srgbClr val="595959"/>
                </a:solidFill>
                <a:latin typeface="Noto Sans SC"/>
                <a:ea typeface="Noto Sans SC"/>
                <a:cs typeface="Noto Sans SC"/>
                <a:sym typeface="Noto Sans SC"/>
              </a:rPr>
              <a:t>legal_basis</a:t>
            </a:r>
            <a:r>
              <a:rPr lang="en-US" sz="1400" b="0" i="0" u="none" strike="noStrike" dirty="0">
                <a:solidFill>
                  <a:srgbClr val="595959"/>
                </a:solidFill>
                <a:latin typeface="Noto Sans SC"/>
                <a:ea typeface="Noto Sans SC"/>
                <a:cs typeface="Noto Sans SC"/>
                <a:sym typeface="Noto Sans SC"/>
              </a:rPr>
              <a:t> </a:t>
            </a:r>
            <a:r>
              <a:rPr lang="en-US" sz="1400" b="0" i="0" u="none" strike="noStrike" dirty="0" err="1">
                <a:solidFill>
                  <a:srgbClr val="595959"/>
                </a:solidFill>
                <a:latin typeface="Noto Sans SC"/>
                <a:ea typeface="Noto Sans SC"/>
                <a:cs typeface="Noto Sans SC"/>
                <a:sym typeface="Noto Sans SC"/>
              </a:rPr>
              <a:t>字段</a:t>
            </a:r>
            <a:r>
              <a:rPr lang="en-US" sz="1400" b="0" i="0" u="none" strike="noStrike" dirty="0">
                <a:solidFill>
                  <a:srgbClr val="595959"/>
                </a:solidFill>
                <a:latin typeface="Noto Sans SC"/>
                <a:ea typeface="Noto Sans SC"/>
                <a:cs typeface="Noto Sans SC"/>
                <a:sym typeface="Noto Sans SC"/>
              </a:rPr>
              <a:t>）；</a:t>
            </a:r>
            <a:r>
              <a:rPr lang="en-US" sz="1400" b="0" i="0" u="none" strike="noStrike" dirty="0" err="1">
                <a:solidFill>
                  <a:srgbClr val="595959"/>
                </a:solidFill>
                <a:latin typeface="Noto Sans SC"/>
                <a:ea typeface="Noto Sans SC"/>
                <a:cs typeface="Noto Sans SC"/>
                <a:sym typeface="Noto Sans SC"/>
              </a:rPr>
              <a:t>若出现JSON解析失败或内容异常，自动触发校验重试与降级策略，确保输出严谨</a:t>
            </a:r>
            <a:r>
              <a:rPr lang="en-US" sz="1400" b="0" i="0" u="none" strike="noStrike" dirty="0">
                <a:solidFill>
                  <a:srgbClr val="595959"/>
                </a:solidFill>
                <a:latin typeface="Noto Sans SC"/>
                <a:ea typeface="Noto Sans SC"/>
                <a:cs typeface="Noto Sans SC"/>
                <a:sym typeface="Noto Sans SC"/>
              </a:rPr>
              <a:t>。</a:t>
            </a:r>
          </a:p>
          <a:p>
            <a:pPr marL="0" indent="457200" algn="l">
              <a:lnSpc>
                <a:spcPct val="108333"/>
              </a:lnSpc>
            </a:pPr>
            <a:endParaRPr lang="en-US" sz="1400" b="0" i="0" u="none" strike="noStrike" dirty="0">
              <a:solidFill>
                <a:srgbClr val="595959"/>
              </a:solidFill>
              <a:latin typeface="Noto Sans SC"/>
              <a:ea typeface="Noto Sans SC"/>
              <a:cs typeface="Noto Sans SC"/>
              <a:sym typeface="Noto Sans SC"/>
            </a:endParaRPr>
          </a:p>
          <a:p>
            <a:pPr marL="0" indent="457200" algn="l">
              <a:lnSpc>
                <a:spcPct val="108333"/>
              </a:lnSpc>
            </a:pPr>
            <a:endParaRPr lang="en-US" sz="1800" b="1" i="0" u="none" strike="noStrike" dirty="0">
              <a:solidFill>
                <a:srgbClr val="000000"/>
              </a:solidFill>
              <a:latin typeface="Songti SC"/>
              <a:ea typeface="Songti SC"/>
              <a:cs typeface="Songti SC"/>
              <a:sym typeface="Songti SC"/>
            </a:endParaRPr>
          </a:p>
          <a:p>
            <a:pPr marL="0" indent="457200" algn="l">
              <a:lnSpc>
                <a:spcPct val="108333"/>
              </a:lnSpc>
            </a:pPr>
            <a:endParaRPr lang="en-US" sz="1800" b="1" dirty="0">
              <a:latin typeface="Songti SC"/>
              <a:ea typeface="Songti SC"/>
              <a:cs typeface="Songti SC"/>
              <a:sym typeface="Songti SC"/>
            </a:endParaRPr>
          </a:p>
          <a:p>
            <a:pPr marL="0" indent="457200" algn="l">
              <a:lnSpc>
                <a:spcPct val="108333"/>
              </a:lnSpc>
            </a:pPr>
            <a:endParaRPr lang="en-US" sz="1800" b="1" i="0" u="none" strike="noStrike" dirty="0">
              <a:solidFill>
                <a:srgbClr val="000000"/>
              </a:solidFill>
              <a:latin typeface="Songti SC"/>
              <a:ea typeface="Songti SC"/>
              <a:cs typeface="Songti SC"/>
              <a:sym typeface="Songti SC"/>
            </a:endParaRPr>
          </a:p>
          <a:p>
            <a:pPr marL="0" indent="457200" algn="l">
              <a:lnSpc>
                <a:spcPct val="108333"/>
              </a:lnSpc>
            </a:pPr>
            <a:endParaRPr lang="en-US" sz="1800" b="1" dirty="0">
              <a:latin typeface="Songti SC"/>
              <a:ea typeface="Songti SC"/>
              <a:cs typeface="Songti SC"/>
              <a:sym typeface="Songti SC"/>
            </a:endParaRPr>
          </a:p>
          <a:p>
            <a:pPr marL="0" indent="457200" algn="l">
              <a:lnSpc>
                <a:spcPct val="108333"/>
              </a:lnSpc>
            </a:pPr>
            <a:r>
              <a:rPr lang="en-US" sz="1800" b="1" i="0" u="none" strike="noStrike" dirty="0">
                <a:solidFill>
                  <a:srgbClr val="000000"/>
                </a:solidFill>
                <a:latin typeface="Songti SC"/>
                <a:ea typeface="Songti SC"/>
                <a:cs typeface="Songti SC"/>
                <a:sym typeface="Songti SC"/>
              </a:rPr>
              <a:t>04. </a:t>
            </a:r>
            <a:r>
              <a:rPr lang="en-US" sz="1800" b="1" i="0" u="none" strike="noStrike" dirty="0" err="1">
                <a:solidFill>
                  <a:srgbClr val="000000"/>
                </a:solidFill>
                <a:latin typeface="Songti SC"/>
                <a:ea typeface="Songti SC"/>
                <a:cs typeface="Songti SC"/>
                <a:sym typeface="Songti SC"/>
              </a:rPr>
              <a:t>环境依赖与工程兼容性攻坚</a:t>
            </a:r>
            <a:endParaRPr lang="en-US" sz="1800" b="1" i="0" u="none" strike="noStrike" dirty="0">
              <a:solidFill>
                <a:srgbClr val="000000"/>
              </a:solidFill>
              <a:latin typeface="Songti SC"/>
              <a:ea typeface="Songti SC"/>
              <a:cs typeface="Songti SC"/>
              <a:sym typeface="Songti SC"/>
            </a:endParaRPr>
          </a:p>
          <a:p>
            <a:pPr marL="0" indent="457200" algn="l">
              <a:lnSpc>
                <a:spcPct val="108333"/>
              </a:lnSpc>
            </a:pPr>
            <a:r>
              <a:rPr lang="en-US" sz="1400" b="1" i="0" u="none" strike="noStrike" dirty="0">
                <a:solidFill>
                  <a:srgbClr val="595959"/>
                </a:solidFill>
                <a:latin typeface="Noto Sans SC"/>
                <a:ea typeface="Noto Sans SC"/>
                <a:cs typeface="Noto Sans SC"/>
                <a:sym typeface="Noto Sans SC"/>
              </a:rPr>
              <a:t>核心痛点：</a:t>
            </a:r>
            <a:r>
              <a:rPr lang="en-US" sz="1400" b="0" i="0" u="none" strike="noStrike" dirty="0">
                <a:solidFill>
                  <a:srgbClr val="595959"/>
                </a:solidFill>
                <a:latin typeface="Noto Sans SC"/>
                <a:ea typeface="Noto Sans SC"/>
                <a:cs typeface="Noto Sans SC"/>
                <a:sym typeface="Noto Sans SC"/>
              </a:rPr>
              <a:t>第三方库（如faiss-cpu）安装失败、PyTorch体积过大占用资源、端口冲突导致服务异常、SSE实时通信中断等工程落地难题频发。</a:t>
            </a:r>
          </a:p>
          <a:p>
            <a:pPr marL="0" indent="457200" algn="l">
              <a:lnSpc>
                <a:spcPct val="108333"/>
              </a:lnSpc>
            </a:pPr>
            <a:r>
              <a:rPr lang="en-US" sz="1400" b="1" i="0" u="none" strike="noStrike" dirty="0" err="1">
                <a:solidFill>
                  <a:srgbClr val="595959"/>
                </a:solidFill>
                <a:latin typeface="Noto Sans SC"/>
                <a:ea typeface="Noto Sans SC"/>
                <a:cs typeface="Noto Sans SC"/>
                <a:sym typeface="Noto Sans SC"/>
              </a:rPr>
              <a:t>破局对策：</a:t>
            </a:r>
            <a:r>
              <a:rPr lang="en-US" sz="1400" b="0" i="0" u="none" strike="noStrike" dirty="0" err="1">
                <a:solidFill>
                  <a:srgbClr val="595959"/>
                </a:solidFill>
                <a:latin typeface="Noto Sans SC"/>
                <a:ea typeface="Noto Sans SC"/>
                <a:cs typeface="Noto Sans SC"/>
                <a:sym typeface="Noto Sans SC"/>
              </a:rPr>
              <a:t>建立自动降级预案（FAISS失败则切换至NumPy相似度计算</a:t>
            </a:r>
            <a:r>
              <a:rPr lang="en-US" sz="1400" b="0" i="0" u="none" strike="noStrike" dirty="0">
                <a:solidFill>
                  <a:srgbClr val="595959"/>
                </a:solidFill>
                <a:latin typeface="Noto Sans SC"/>
                <a:ea typeface="Noto Sans SC"/>
                <a:cs typeface="Noto Sans SC"/>
                <a:sym typeface="Noto Sans SC"/>
              </a:rPr>
              <a:t>）；</a:t>
            </a:r>
            <a:r>
              <a:rPr lang="en-US" sz="1400" b="0" i="0" u="none" strike="noStrike" dirty="0" err="1">
                <a:solidFill>
                  <a:srgbClr val="595959"/>
                </a:solidFill>
                <a:latin typeface="Noto Sans SC"/>
                <a:ea typeface="Noto Sans SC"/>
                <a:cs typeface="Noto Sans SC"/>
                <a:sym typeface="Noto Sans SC"/>
              </a:rPr>
              <a:t>将语义模型设为可选模块以适配低配环境；统一微服务端口规划避免冲突；采用SSE分块流式发送机制，提升传输稳定性与容错率</a:t>
            </a:r>
            <a:r>
              <a:rPr lang="en-US" sz="1400" b="0" i="0" u="none" strike="noStrike" dirty="0">
                <a:solidFill>
                  <a:srgbClr val="595959"/>
                </a:solidFill>
                <a:latin typeface="Noto Sans SC"/>
                <a:ea typeface="Noto Sans SC"/>
                <a:cs typeface="Noto Sans SC"/>
                <a:sym typeface="Noto Sans SC"/>
              </a:rPr>
              <a:t>。</a:t>
            </a: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254000"/>
            <a:ext cx="596900" cy="5969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4800" y="0"/>
            <a:ext cx="4749800" cy="6870700"/>
          </a:xfrm>
          <a:prstGeom prst="parallelogram">
            <a:avLst>
              <a:gd name="adj" fmla="val 2500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188200" y="0"/>
            <a:ext cx="4749800" cy="6870700"/>
          </a:xfrm>
          <a:prstGeom prst="parallelogram">
            <a:avLst>
              <a:gd name="adj" fmla="val 2500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35400" y="0"/>
            <a:ext cx="4660900" cy="6870700"/>
          </a:xfrm>
          <a:prstGeom prst="parallelogram">
            <a:avLst>
              <a:gd name="adj" fmla="val 25000"/>
            </a:avLst>
          </a:prstGeom>
          <a:solidFill>
            <a:srgbClr val="7F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816100" y="838200"/>
            <a:ext cx="8902700" cy="5435600"/>
          </a:xfrm>
          <a:prstGeom prst="parallelogram">
            <a:avLst>
              <a:gd name="adj" fmla="val 17610"/>
            </a:avLst>
          </a:prstGeom>
          <a:solidFill>
            <a:srgbClr val="FFFFFF">
              <a:alpha val="100000"/>
            </a:srgbClr>
          </a:solidFill>
          <a:ln w="12700" cap="flat" cmpd="sng">
            <a:solidFill>
              <a:srgbClr val="FFFFFF">
                <a:alpha val="100000"/>
              </a:srgbClr>
            </a:solidFill>
            <a:prstDash val="solid"/>
            <a:miter lim="1000000"/>
          </a:ln>
        </p:spPr>
        <p:txBody>
          <a:bodyPr vert="horz" wrap="square" lIns="63500" tIns="63500" rIns="63500" bIns="63500" rtlCol="0" anchor="ctr"/>
          <a:lstStyle/>
          <a:p>
            <a:pPr algn="ctr">
              <a:defRPr/>
            </a:pPr>
            <a:endParaRPr/>
          </a:p>
        </p:txBody>
      </p:sp>
      <p:sp>
        <p:nvSpPr>
          <p:cNvPr id="6" name="AutoShape 6"/>
          <p:cNvSpPr/>
          <p:nvPr/>
        </p:nvSpPr>
        <p:spPr>
          <a:xfrm>
            <a:off x="304800" y="215900"/>
            <a:ext cx="1498600" cy="520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800" b="0" i="0" u="none" strike="noStrike">
                <a:solidFill>
                  <a:srgbClr val="665C8A"/>
                </a:solidFill>
                <a:latin typeface="华康乾隆行楷 W7"/>
                <a:ea typeface="华康乾隆行楷 W7"/>
                <a:cs typeface="华康乾隆行楷 W7"/>
                <a:sym typeface="华康乾隆行楷 W7"/>
              </a:rPr>
              <a:t>难点</a:t>
            </a:r>
            <a:r>
              <a:rPr lang="en-US" sz="1600" b="0" i="0" u="none" strike="noStrike">
                <a:solidFill>
                  <a:srgbClr val="1F2329"/>
                </a:solidFill>
                <a:latin typeface="Noto Sans SC"/>
                <a:ea typeface="Noto Sans SC"/>
                <a:cs typeface="Noto Sans SC"/>
                <a:sym typeface="Noto Sans SC"/>
              </a:rPr>
              <a:t> </a:t>
            </a:r>
            <a:r>
              <a:rPr lang="en-US" sz="2400" b="0" i="0" u="none" strike="noStrike">
                <a:solidFill>
                  <a:srgbClr val="665C8A"/>
                </a:solidFill>
                <a:latin typeface="华康乾隆行楷 W7"/>
                <a:ea typeface="华康乾隆行楷 W7"/>
                <a:cs typeface="华康乾隆行楷 W7"/>
                <a:sym typeface="华康乾隆行楷 W7"/>
              </a:rPr>
              <a:t>突破</a:t>
            </a:r>
            <a:endParaRPr lang="en-US" sz="1100"/>
          </a:p>
        </p:txBody>
      </p:sp>
      <p:sp>
        <p:nvSpPr>
          <p:cNvPr id="7" name="AutoShape 7"/>
          <p:cNvSpPr/>
          <p:nvPr/>
        </p:nvSpPr>
        <p:spPr>
          <a:xfrm>
            <a:off x="431800" y="571500"/>
            <a:ext cx="12192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665C8A"/>
                </a:solidFill>
                <a:latin typeface="Noto Sans SC"/>
                <a:ea typeface="Noto Sans SC"/>
                <a:cs typeface="Noto Sans SC"/>
                <a:sym typeface="Noto Sans SC"/>
              </a:rPr>
              <a:t>Breakthrough</a:t>
            </a:r>
            <a:endParaRPr lang="en-US" sz="1100"/>
          </a:p>
        </p:txBody>
      </p:sp>
      <p:sp>
        <p:nvSpPr>
          <p:cNvPr id="8" name="AutoShape 8"/>
          <p:cNvSpPr/>
          <p:nvPr/>
        </p:nvSpPr>
        <p:spPr>
          <a:xfrm>
            <a:off x="2946571" y="1543945"/>
            <a:ext cx="6985000" cy="54356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2000" b="1" i="0" u="none" strike="noStrike" dirty="0">
                <a:solidFill>
                  <a:srgbClr val="665C8A"/>
                </a:solidFill>
                <a:latin typeface="Songti SC"/>
                <a:ea typeface="Songti SC"/>
                <a:cs typeface="Songti SC"/>
                <a:sym typeface="Songti SC"/>
              </a:rPr>
              <a:t>05. </a:t>
            </a:r>
            <a:r>
              <a:rPr lang="en-US" sz="2000" b="1" i="0" u="none" strike="noStrike" dirty="0" err="1">
                <a:solidFill>
                  <a:srgbClr val="665C8A"/>
                </a:solidFill>
                <a:latin typeface="Songti SC"/>
                <a:ea typeface="Songti SC"/>
                <a:cs typeface="Songti SC"/>
                <a:sym typeface="Songti SC"/>
              </a:rPr>
              <a:t>全栈系统联调与工程化落地（一周工期攻坚</a:t>
            </a:r>
            <a:r>
              <a:rPr lang="en-US" sz="2000" b="1" i="0" u="none" strike="noStrike" dirty="0">
                <a:solidFill>
                  <a:srgbClr val="665C8A"/>
                </a:solidFill>
                <a:latin typeface="Songti SC"/>
                <a:ea typeface="Songti SC"/>
                <a:cs typeface="Songti SC"/>
                <a:sym typeface="Songti SC"/>
              </a:rPr>
              <a:t>）</a:t>
            </a:r>
            <a:endParaRPr lang="en-US" sz="1100" dirty="0"/>
          </a:p>
          <a:p>
            <a:pPr marL="0" indent="0" algn="l">
              <a:lnSpc>
                <a:spcPct val="100000"/>
              </a:lnSpc>
            </a:pPr>
            <a:endParaRPr lang="en-US" sz="1100" dirty="0"/>
          </a:p>
          <a:p>
            <a:pPr marL="0" indent="0" algn="l">
              <a:lnSpc>
                <a:spcPct val="116666"/>
              </a:lnSpc>
            </a:pPr>
            <a:r>
              <a:rPr lang="en-US" sz="1800" b="1" i="0" u="none" strike="noStrike" dirty="0">
                <a:solidFill>
                  <a:srgbClr val="505050"/>
                </a:solidFill>
                <a:latin typeface="Noto Sans SC"/>
                <a:ea typeface="Noto Sans SC"/>
                <a:cs typeface="Noto Sans SC"/>
                <a:sym typeface="Noto Sans SC"/>
              </a:rPr>
              <a:t>❶ </a:t>
            </a:r>
            <a:r>
              <a:rPr lang="en-US" sz="1800" b="1" i="0" u="none" strike="noStrike" dirty="0" err="1">
                <a:solidFill>
                  <a:srgbClr val="505050"/>
                </a:solidFill>
                <a:latin typeface="Noto Sans SC"/>
                <a:ea typeface="Noto Sans SC"/>
                <a:cs typeface="Noto Sans SC"/>
                <a:sym typeface="Noto Sans SC"/>
              </a:rPr>
              <a:t>核心难点</a:t>
            </a:r>
            <a:r>
              <a:rPr lang="en-US" sz="1800" b="1" i="0" u="none" strike="noStrike" dirty="0">
                <a:solidFill>
                  <a:srgbClr val="505050"/>
                </a:solidFill>
                <a:latin typeface="Noto Sans SC"/>
                <a:ea typeface="Noto Sans SC"/>
                <a:cs typeface="Noto Sans SC"/>
                <a:sym typeface="Noto Sans SC"/>
              </a:rPr>
              <a:t>：</a:t>
            </a:r>
            <a:r>
              <a:rPr lang="en-US" sz="1600" b="0" i="0" u="none" strike="noStrike" dirty="0">
                <a:solidFill>
                  <a:srgbClr val="1F2329"/>
                </a:solidFill>
                <a:latin typeface="Noto Sans SC"/>
                <a:ea typeface="Noto Sans SC"/>
                <a:cs typeface="Noto Sans SC"/>
                <a:sym typeface="Noto Sans SC"/>
              </a:rPr>
              <a:t> </a:t>
            </a:r>
            <a:r>
              <a:rPr lang="en-US" sz="1600" b="0" i="0" u="none" strike="noStrike" dirty="0">
                <a:solidFill>
                  <a:srgbClr val="374151"/>
                </a:solidFill>
                <a:latin typeface="Noto Sans SC"/>
                <a:ea typeface="Noto Sans SC"/>
                <a:cs typeface="Noto Sans SC"/>
                <a:sym typeface="Noto Sans SC"/>
              </a:rPr>
              <a:t>面对8组复杂路由配置与前后端分离架构，需在一周内完成多模块接口对接、联调测试与环境适配，存在时间紧迫、模块耦合度高、联调排错难度大等挑战。</a:t>
            </a:r>
          </a:p>
          <a:p>
            <a:pPr marL="0" indent="0" algn="l">
              <a:lnSpc>
                <a:spcPct val="100000"/>
              </a:lnSpc>
            </a:pPr>
            <a:endParaRPr lang="en-US" sz="1600" b="0" i="0" u="none" strike="noStrike" dirty="0">
              <a:solidFill>
                <a:srgbClr val="374151"/>
              </a:solidFill>
              <a:latin typeface="Noto Sans SC"/>
              <a:ea typeface="Noto Sans SC"/>
              <a:cs typeface="Noto Sans SC"/>
              <a:sym typeface="Noto Sans SC"/>
            </a:endParaRPr>
          </a:p>
          <a:p>
            <a:pPr marL="0" indent="0" algn="l">
              <a:lnSpc>
                <a:spcPct val="116666"/>
              </a:lnSpc>
            </a:pPr>
            <a:r>
              <a:rPr lang="en-US" sz="1800" b="1" i="0" u="none" strike="noStrike" dirty="0">
                <a:solidFill>
                  <a:srgbClr val="505050"/>
                </a:solidFill>
                <a:latin typeface="Noto Sans SC"/>
                <a:ea typeface="Noto Sans SC"/>
                <a:cs typeface="Noto Sans SC"/>
                <a:sym typeface="Noto Sans SC"/>
              </a:rPr>
              <a:t>❷ </a:t>
            </a:r>
            <a:r>
              <a:rPr lang="en-US" sz="1800" b="1" i="0" u="none" strike="noStrike" dirty="0" err="1">
                <a:solidFill>
                  <a:srgbClr val="505050"/>
                </a:solidFill>
                <a:latin typeface="Noto Sans SC"/>
                <a:ea typeface="Noto Sans SC"/>
                <a:cs typeface="Noto Sans SC"/>
                <a:sym typeface="Noto Sans SC"/>
              </a:rPr>
              <a:t>破局对策</a:t>
            </a:r>
            <a:r>
              <a:rPr lang="en-US" sz="1800" b="1" i="0" u="none" strike="noStrike" dirty="0">
                <a:solidFill>
                  <a:srgbClr val="505050"/>
                </a:solidFill>
                <a:latin typeface="Noto Sans SC"/>
                <a:ea typeface="Noto Sans SC"/>
                <a:cs typeface="Noto Sans SC"/>
                <a:sym typeface="Noto Sans SC"/>
              </a:rPr>
              <a:t>：</a:t>
            </a:r>
          </a:p>
          <a:p>
            <a:pPr marL="0" indent="304800" algn="l">
              <a:lnSpc>
                <a:spcPct val="116666"/>
              </a:lnSpc>
            </a:pPr>
            <a:r>
              <a:rPr lang="en-US" sz="1600" b="0" i="0" u="none" strike="noStrike" dirty="0">
                <a:solidFill>
                  <a:srgbClr val="374151"/>
                </a:solidFill>
                <a:latin typeface="Noto Sans SC"/>
                <a:ea typeface="Noto Sans SC"/>
                <a:cs typeface="Noto Sans SC"/>
                <a:sym typeface="Noto Sans SC"/>
              </a:rPr>
              <a:t>1. </a:t>
            </a:r>
            <a:r>
              <a:rPr lang="en-US" sz="1600" b="1" i="0" u="none" strike="noStrike" dirty="0" err="1">
                <a:solidFill>
                  <a:srgbClr val="374151"/>
                </a:solidFill>
                <a:latin typeface="Noto Sans SC"/>
                <a:ea typeface="Noto Sans SC"/>
                <a:cs typeface="Noto Sans SC"/>
                <a:sym typeface="Noto Sans SC"/>
              </a:rPr>
              <a:t>接口先行：</a:t>
            </a:r>
            <a:r>
              <a:rPr lang="en-US" sz="1600" b="0" i="0" u="none" strike="noStrike" dirty="0" err="1">
                <a:solidFill>
                  <a:srgbClr val="374151"/>
                </a:solidFill>
                <a:latin typeface="Noto Sans SC"/>
                <a:ea typeface="Noto Sans SC"/>
                <a:cs typeface="Noto Sans SC"/>
                <a:sym typeface="Noto Sans SC"/>
              </a:rPr>
              <a:t>提前制定标准化接口文档，实现前后端并行开发，消除开发阻塞点</a:t>
            </a:r>
            <a:r>
              <a:rPr lang="en-US" sz="1600" b="0" i="0" u="none" strike="noStrike" dirty="0">
                <a:solidFill>
                  <a:srgbClr val="374151"/>
                </a:solidFill>
                <a:latin typeface="Noto Sans SC"/>
                <a:ea typeface="Noto Sans SC"/>
                <a:cs typeface="Noto Sans SC"/>
                <a:sym typeface="Noto Sans SC"/>
              </a:rPr>
              <a:t>；</a:t>
            </a:r>
          </a:p>
          <a:p>
            <a:pPr marL="0" indent="304800" algn="l">
              <a:lnSpc>
                <a:spcPct val="116666"/>
              </a:lnSpc>
            </a:pPr>
            <a:r>
              <a:rPr lang="en-US" sz="1600" b="0" i="0" u="none" strike="noStrike" dirty="0">
                <a:solidFill>
                  <a:srgbClr val="374151"/>
                </a:solidFill>
                <a:latin typeface="Noto Sans SC"/>
                <a:ea typeface="Noto Sans SC"/>
                <a:cs typeface="Noto Sans SC"/>
                <a:sym typeface="Noto Sans SC"/>
              </a:rPr>
              <a:t>2. </a:t>
            </a:r>
            <a:r>
              <a:rPr lang="en-US" sz="1600" b="1" i="0" u="none" strike="noStrike" dirty="0" err="1">
                <a:solidFill>
                  <a:srgbClr val="374151"/>
                </a:solidFill>
                <a:latin typeface="Noto Sans SC"/>
                <a:ea typeface="Noto Sans SC"/>
                <a:cs typeface="Noto Sans SC"/>
                <a:sym typeface="Noto Sans SC"/>
              </a:rPr>
              <a:t>模块化分包：</a:t>
            </a:r>
            <a:r>
              <a:rPr lang="en-US" sz="1600" b="0" i="0" u="none" strike="noStrike" dirty="0" err="1">
                <a:solidFill>
                  <a:srgbClr val="374151"/>
                </a:solidFill>
                <a:latin typeface="Noto Sans SC"/>
                <a:ea typeface="Noto Sans SC"/>
                <a:cs typeface="Noto Sans SC"/>
                <a:sym typeface="Noto Sans SC"/>
              </a:rPr>
              <a:t>按业务域拆分独立模块并行研发，降低联调复杂度，提升协作效率</a:t>
            </a:r>
            <a:r>
              <a:rPr lang="en-US" sz="1600" b="0" i="0" u="none" strike="noStrike" dirty="0">
                <a:solidFill>
                  <a:srgbClr val="374151"/>
                </a:solidFill>
                <a:latin typeface="Noto Sans SC"/>
                <a:ea typeface="Noto Sans SC"/>
                <a:cs typeface="Noto Sans SC"/>
                <a:sym typeface="Noto Sans SC"/>
              </a:rPr>
              <a:t>；</a:t>
            </a:r>
          </a:p>
          <a:p>
            <a:pPr marL="0" indent="304800" algn="l">
              <a:lnSpc>
                <a:spcPct val="116666"/>
              </a:lnSpc>
            </a:pPr>
            <a:r>
              <a:rPr lang="en-US" sz="1600" b="0" i="0" u="none" strike="noStrike" dirty="0">
                <a:solidFill>
                  <a:srgbClr val="374151"/>
                </a:solidFill>
                <a:latin typeface="Noto Sans SC"/>
                <a:ea typeface="Noto Sans SC"/>
                <a:cs typeface="Noto Sans SC"/>
                <a:sym typeface="Noto Sans SC"/>
              </a:rPr>
              <a:t>3. </a:t>
            </a:r>
            <a:r>
              <a:rPr lang="en-US" sz="1600" b="1" i="0" u="none" strike="noStrike" dirty="0" err="1">
                <a:solidFill>
                  <a:srgbClr val="374151"/>
                </a:solidFill>
                <a:latin typeface="Noto Sans SC"/>
                <a:ea typeface="Noto Sans SC"/>
                <a:cs typeface="Noto Sans SC"/>
                <a:sym typeface="Noto Sans SC"/>
              </a:rPr>
              <a:t>工程化落地：</a:t>
            </a:r>
            <a:r>
              <a:rPr lang="en-US" sz="1600" b="0" i="0" u="none" strike="noStrike" dirty="0" err="1">
                <a:solidFill>
                  <a:srgbClr val="374151"/>
                </a:solidFill>
                <a:latin typeface="Noto Sans SC"/>
                <a:ea typeface="Noto Sans SC"/>
                <a:cs typeface="Noto Sans SC"/>
                <a:sym typeface="Noto Sans SC"/>
              </a:rPr>
              <a:t>基于Docker</a:t>
            </a:r>
            <a:r>
              <a:rPr lang="en-US" sz="1600" b="0" i="0" u="none" strike="noStrike" dirty="0">
                <a:solidFill>
                  <a:srgbClr val="374151"/>
                </a:solidFill>
                <a:latin typeface="Noto Sans SC"/>
                <a:ea typeface="Noto Sans SC"/>
                <a:cs typeface="Noto Sans SC"/>
                <a:sym typeface="Noto Sans SC"/>
              </a:rPr>
              <a:t> </a:t>
            </a:r>
            <a:r>
              <a:rPr lang="en-US" sz="1600" b="0" i="0" u="none" strike="noStrike" dirty="0" err="1">
                <a:solidFill>
                  <a:srgbClr val="374151"/>
                </a:solidFill>
                <a:latin typeface="Noto Sans SC"/>
                <a:ea typeface="Noto Sans SC"/>
                <a:cs typeface="Noto Sans SC"/>
                <a:sym typeface="Noto Sans SC"/>
              </a:rPr>
              <a:t>Compose实现容器化编排，实现环境一致性与项目一键部署，保障交付稳定性</a:t>
            </a:r>
            <a:r>
              <a:rPr lang="en-US" sz="1600" b="0" i="0" u="none" strike="noStrike" dirty="0">
                <a:solidFill>
                  <a:srgbClr val="374151"/>
                </a:solidFill>
                <a:latin typeface="Noto Sans SC"/>
                <a:ea typeface="Noto Sans SC"/>
                <a:cs typeface="Noto Sans SC"/>
                <a:sym typeface="Noto Sans SC"/>
              </a:rPr>
              <a:t>。</a:t>
            </a: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254000"/>
            <a:ext cx="596900" cy="5969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 y="4191000"/>
            <a:ext cx="12217400" cy="14097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4483100" y="2197100"/>
            <a:ext cx="5422900" cy="26797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2362200" y="2197100"/>
            <a:ext cx="1968500" cy="2679700"/>
          </a:xfrm>
          <a:prstGeom prst="roundRect">
            <a:avLst>
              <a:gd name="adj" fmla="val 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flipV="1">
            <a:off x="2717800" y="2997200"/>
            <a:ext cx="1244600" cy="1231900"/>
          </a:xfrm>
          <a:prstGeom prst="rect">
            <a:avLst/>
          </a:prstGeom>
        </p:spPr>
      </p:pic>
      <p:sp>
        <p:nvSpPr>
          <p:cNvPr id="6" name="AutoShape 6"/>
          <p:cNvSpPr/>
          <p:nvPr/>
        </p:nvSpPr>
        <p:spPr>
          <a:xfrm>
            <a:off x="4851400" y="2882900"/>
            <a:ext cx="2209800" cy="711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4000" b="0" i="0" u="none" strike="noStrike">
                <a:solidFill>
                  <a:srgbClr val="FFFFFF"/>
                </a:solidFill>
                <a:latin typeface="华康乾隆行楷 W7"/>
                <a:ea typeface="华康乾隆行楷 W7"/>
                <a:cs typeface="华康乾隆行楷 W7"/>
                <a:sym typeface="华康乾隆行楷 W7"/>
              </a:rPr>
              <a:t>项目感受</a:t>
            </a:r>
            <a:endParaRPr lang="en-US" sz="1100"/>
          </a:p>
        </p:txBody>
      </p:sp>
      <p:sp>
        <p:nvSpPr>
          <p:cNvPr id="7" name="AutoShape 7"/>
          <p:cNvSpPr/>
          <p:nvPr/>
        </p:nvSpPr>
        <p:spPr>
          <a:xfrm>
            <a:off x="4940300" y="3606800"/>
            <a:ext cx="3810000" cy="584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1600" b="0" i="0" u="none" strike="noStrike">
                <a:solidFill>
                  <a:srgbClr val="FFFFFF"/>
                </a:solidFill>
                <a:latin typeface="Noto Sans SC"/>
                <a:ea typeface="Noto Sans SC"/>
                <a:cs typeface="Noto Sans SC"/>
                <a:sym typeface="Noto Sans SC"/>
              </a:rPr>
              <a:t>Project Experience</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3556000" cy="6858000"/>
          </a:xfrm>
          <a:prstGeom prst="roundRect">
            <a:avLst>
              <a:gd name="adj" fmla="val 0"/>
            </a:avLst>
          </a:prstGeom>
          <a:solidFill>
            <a:srgbClr val="4338CA">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0"/>
            <a:ext cx="76200" cy="6858000"/>
          </a:xfrm>
          <a:prstGeom prst="roundRect">
            <a:avLst>
              <a:gd name="adj" fmla="val 0"/>
            </a:avLst>
          </a:prstGeom>
          <a:solidFill>
            <a:srgbClr val="4338CA">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1000" y="762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329"/>
                </a:solidFill>
                <a:latin typeface="Noto Sans SC"/>
                <a:ea typeface="Noto Sans SC"/>
                <a:cs typeface="Noto Sans SC"/>
                <a:sym typeface="Noto Sans SC"/>
              </a:rPr>
              <a:t>项目感受</a:t>
            </a:r>
            <a:endParaRPr lang="en-US" sz="1100"/>
          </a:p>
        </p:txBody>
      </p:sp>
      <p:sp>
        <p:nvSpPr>
          <p:cNvPr id="5" name="AutoShape 5"/>
          <p:cNvSpPr/>
          <p:nvPr/>
        </p:nvSpPr>
        <p:spPr>
          <a:xfrm>
            <a:off x="381000" y="15240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64748B"/>
                </a:solidFill>
                <a:latin typeface="Arial"/>
                <a:ea typeface="Arial"/>
                <a:cs typeface="Arial"/>
                <a:sym typeface="Arial"/>
              </a:rPr>
              <a:t>Project Experience</a:t>
            </a:r>
            <a:endParaRPr lang="en-US" sz="1100"/>
          </a:p>
        </p:txBody>
      </p:sp>
      <p:sp>
        <p:nvSpPr>
          <p:cNvPr id="6" name="AutoShape 6"/>
          <p:cNvSpPr/>
          <p:nvPr/>
        </p:nvSpPr>
        <p:spPr>
          <a:xfrm>
            <a:off x="381000" y="2794000"/>
            <a:ext cx="2921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0" i="0" u="none" strike="noStrike">
                <a:solidFill>
                  <a:srgbClr val="475569"/>
                </a:solidFill>
                <a:latin typeface="Noto Sans SC"/>
                <a:ea typeface="Noto Sans SC"/>
                <a:cs typeface="Noto Sans SC"/>
                <a:sym typeface="Noto Sans SC"/>
              </a:rPr>
              <a:t>项目的推进不仅是技术的落地，更是工程思维与协作模式的沉淀。从规范的建立到测试体系的升级，再到团队协作的磨合，每一步都让我们对高质量交付有了更深的理解。</a:t>
            </a:r>
            <a:endParaRPr lang="en-US" sz="1100"/>
          </a:p>
        </p:txBody>
      </p:sp>
      <p:sp>
        <p:nvSpPr>
          <p:cNvPr id="7" name="AutoShape 7"/>
          <p:cNvSpPr/>
          <p:nvPr/>
        </p:nvSpPr>
        <p:spPr>
          <a:xfrm>
            <a:off x="3937000" y="1270000"/>
            <a:ext cx="3683000" cy="2286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00" y="1524000"/>
            <a:ext cx="406400" cy="406400"/>
          </a:xfrm>
          <a:prstGeom prst="rect">
            <a:avLst/>
          </a:prstGeom>
        </p:spPr>
      </p:pic>
      <p:sp>
        <p:nvSpPr>
          <p:cNvPr id="9" name="AutoShape 9"/>
          <p:cNvSpPr/>
          <p:nvPr/>
        </p:nvSpPr>
        <p:spPr>
          <a:xfrm>
            <a:off x="4699000" y="15494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329"/>
                </a:solidFill>
                <a:latin typeface="Noto Sans SC"/>
                <a:ea typeface="Noto Sans SC"/>
                <a:cs typeface="Noto Sans SC"/>
                <a:sym typeface="Noto Sans SC"/>
              </a:rPr>
              <a:t>工程规范：研发的基石</a:t>
            </a:r>
            <a:endParaRPr lang="en-US" sz="1100"/>
          </a:p>
        </p:txBody>
      </p:sp>
      <p:sp>
        <p:nvSpPr>
          <p:cNvPr id="10" name="AutoShape 10"/>
          <p:cNvSpPr/>
          <p:nvPr/>
        </p:nvSpPr>
        <p:spPr>
          <a:xfrm>
            <a:off x="4191000" y="2095500"/>
            <a:ext cx="317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64748B"/>
                </a:solidFill>
                <a:latin typeface="Noto Sans SC"/>
                <a:ea typeface="Noto Sans SC"/>
                <a:cs typeface="Noto Sans SC"/>
                <a:sym typeface="Noto Sans SC"/>
              </a:rPr>
              <a:t>坚持12份核心文档随开发同步修订，实现数据库表与ORM实体的一一对应；依托Git严格的版本管理机制，确保每一行代码与设计变更都有迹可循，夯实研发质量的底层基础。</a:t>
            </a:r>
            <a:endParaRPr lang="en-US" sz="1100"/>
          </a:p>
        </p:txBody>
      </p:sp>
      <p:sp>
        <p:nvSpPr>
          <p:cNvPr id="11" name="AutoShape 11"/>
          <p:cNvSpPr/>
          <p:nvPr/>
        </p:nvSpPr>
        <p:spPr>
          <a:xfrm>
            <a:off x="7810500" y="1270000"/>
            <a:ext cx="3683000" cy="2286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64500" y="1524000"/>
            <a:ext cx="406400" cy="406400"/>
          </a:xfrm>
          <a:prstGeom prst="rect">
            <a:avLst/>
          </a:prstGeom>
        </p:spPr>
      </p:pic>
      <p:sp>
        <p:nvSpPr>
          <p:cNvPr id="13" name="AutoShape 13"/>
          <p:cNvSpPr/>
          <p:nvPr/>
        </p:nvSpPr>
        <p:spPr>
          <a:xfrm>
            <a:off x="8572500" y="154940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329"/>
                </a:solidFill>
                <a:latin typeface="Noto Sans SC"/>
                <a:ea typeface="Noto Sans SC"/>
                <a:cs typeface="Noto Sans SC"/>
                <a:sym typeface="Noto Sans SC"/>
              </a:rPr>
              <a:t>测试升级：从“可用”到“可靠”</a:t>
            </a:r>
            <a:endParaRPr lang="en-US" sz="1100"/>
          </a:p>
        </p:txBody>
      </p:sp>
      <p:sp>
        <p:nvSpPr>
          <p:cNvPr id="14" name="AutoShape 14"/>
          <p:cNvSpPr/>
          <p:nvPr/>
        </p:nvSpPr>
        <p:spPr>
          <a:xfrm>
            <a:off x="8064500" y="2095500"/>
            <a:ext cx="317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64748B"/>
                </a:solidFill>
                <a:latin typeface="Noto Sans SC"/>
                <a:ea typeface="Noto Sans SC"/>
                <a:cs typeface="Noto Sans SC"/>
                <a:sym typeface="Noto Sans SC"/>
              </a:rPr>
              <a:t>突破传统状态码校验，重点校验输出结构的合法性与逻辑一致性；将提示词从笼统描述优化为逐项枚举，有效提升了大模型风险识别的稳定性与准确性。</a:t>
            </a:r>
            <a:endParaRPr lang="en-US" sz="1100"/>
          </a:p>
        </p:txBody>
      </p:sp>
      <p:sp>
        <p:nvSpPr>
          <p:cNvPr id="15" name="AutoShape 15"/>
          <p:cNvSpPr/>
          <p:nvPr/>
        </p:nvSpPr>
        <p:spPr>
          <a:xfrm>
            <a:off x="3937000" y="3937000"/>
            <a:ext cx="7620000" cy="2286000"/>
          </a:xfrm>
          <a:prstGeom prst="roundRect">
            <a:avLst>
              <a:gd name="adj" fmla="val 0"/>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91000" y="4191000"/>
            <a:ext cx="406400" cy="406400"/>
          </a:xfrm>
          <a:prstGeom prst="rect">
            <a:avLst/>
          </a:prstGeom>
        </p:spPr>
      </p:pic>
      <p:sp>
        <p:nvSpPr>
          <p:cNvPr id="17" name="AutoShape 17"/>
          <p:cNvSpPr/>
          <p:nvPr/>
        </p:nvSpPr>
        <p:spPr>
          <a:xfrm>
            <a:off x="4699000" y="4216400"/>
            <a:ext cx="635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329"/>
                </a:solidFill>
                <a:latin typeface="Noto Sans SC"/>
                <a:ea typeface="Noto Sans SC"/>
                <a:cs typeface="Noto Sans SC"/>
                <a:sym typeface="Noto Sans SC"/>
              </a:rPr>
              <a:t>协作兜底：交付的安全网</a:t>
            </a:r>
            <a:endParaRPr lang="en-US" sz="1100"/>
          </a:p>
        </p:txBody>
      </p:sp>
      <p:sp>
        <p:nvSpPr>
          <p:cNvPr id="18" name="AutoShape 18"/>
          <p:cNvSpPr/>
          <p:nvPr/>
        </p:nvSpPr>
        <p:spPr>
          <a:xfrm>
            <a:off x="4191000" y="4826000"/>
            <a:ext cx="342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4155"/>
                </a:solidFill>
                <a:latin typeface="Noto Sans SC"/>
                <a:ea typeface="Noto Sans SC"/>
                <a:cs typeface="Noto Sans SC"/>
                <a:sym typeface="Noto Sans SC"/>
              </a:rPr>
              <a:t>高效协同机制</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4748B"/>
                </a:solidFill>
                <a:latin typeface="Noto Sans SC"/>
                <a:ea typeface="Noto Sans SC"/>
                <a:cs typeface="Noto Sans SC"/>
                <a:sym typeface="Noto Sans SC"/>
              </a:rPr>
              <a:t>采用模块化分工拆解任务，先行确定数据库设计以锁定架构基础，为并行开发创造条件，保障项目按期交付。</a:t>
            </a:r>
            <a:endParaRPr lang="en-US" sz="1100"/>
          </a:p>
        </p:txBody>
      </p:sp>
      <p:cxnSp>
        <p:nvCxnSpPr>
          <p:cNvPr id="19" name="Connector 19"/>
          <p:cNvCxnSpPr/>
          <p:nvPr/>
        </p:nvCxnSpPr>
        <p:spPr>
          <a:xfrm rot="5357030">
            <a:off x="7239000" y="5327690"/>
            <a:ext cx="1016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20" name="AutoShape 20"/>
          <p:cNvSpPr/>
          <p:nvPr/>
        </p:nvSpPr>
        <p:spPr>
          <a:xfrm>
            <a:off x="7937500" y="4826000"/>
            <a:ext cx="342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4155"/>
                </a:solidFill>
                <a:latin typeface="Noto Sans SC"/>
                <a:ea typeface="Noto Sans SC"/>
                <a:cs typeface="Noto Sans SC"/>
                <a:sym typeface="Noto Sans SC"/>
              </a:rPr>
              <a:t>风险兜底预案</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4748B"/>
                </a:solidFill>
                <a:latin typeface="Noto Sans SC"/>
                <a:ea typeface="Noto Sans SC"/>
                <a:cs typeface="Noto Sans SC"/>
                <a:sym typeface="Noto Sans SC"/>
              </a:rPr>
              <a:t>针对依赖外部接口的演示场景，提前准备离线录制数据作为兜底方案，确保在网络波动或接口异常时，演示依然能顺利进行。</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4800" y="0"/>
            <a:ext cx="4749800" cy="6870700"/>
          </a:xfrm>
          <a:prstGeom prst="parallelogram">
            <a:avLst>
              <a:gd name="adj" fmla="val 2500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188200" y="0"/>
            <a:ext cx="4749800" cy="6870700"/>
          </a:xfrm>
          <a:prstGeom prst="parallelogram">
            <a:avLst>
              <a:gd name="adj" fmla="val 2500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35400" y="0"/>
            <a:ext cx="4660900" cy="6870700"/>
          </a:xfrm>
          <a:prstGeom prst="parallelogram">
            <a:avLst>
              <a:gd name="adj" fmla="val 25000"/>
            </a:avLst>
          </a:prstGeom>
          <a:solidFill>
            <a:srgbClr val="7F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816100" y="838200"/>
            <a:ext cx="8902700" cy="5435600"/>
          </a:xfrm>
          <a:prstGeom prst="parallelogram">
            <a:avLst>
              <a:gd name="adj" fmla="val 17610"/>
            </a:avLst>
          </a:prstGeom>
          <a:solidFill>
            <a:srgbClr val="FFFFFF">
              <a:alpha val="100000"/>
            </a:srgbClr>
          </a:solidFill>
          <a:ln w="12700" cap="flat" cmpd="sng">
            <a:solidFill>
              <a:srgbClr val="FFFFFF">
                <a:alpha val="100000"/>
              </a:srgbClr>
            </a:solidFill>
            <a:prstDash val="solid"/>
            <a:miter lim="1000000"/>
          </a:ln>
        </p:spPr>
        <p:txBody>
          <a:bodyPr vert="horz" wrap="square" lIns="63500" tIns="63500" rIns="63500" bIns="63500" rtlCol="0" anchor="ctr"/>
          <a:lstStyle/>
          <a:p>
            <a:pPr algn="ctr">
              <a:defRPr/>
            </a:pPr>
            <a:endParaRPr/>
          </a:p>
        </p:txBody>
      </p:sp>
      <p:sp>
        <p:nvSpPr>
          <p:cNvPr id="6" name="AutoShape 6"/>
          <p:cNvSpPr/>
          <p:nvPr/>
        </p:nvSpPr>
        <p:spPr>
          <a:xfrm>
            <a:off x="304800" y="215900"/>
            <a:ext cx="2540000" cy="520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800" b="0" i="0" u="none" strike="noStrike">
                <a:solidFill>
                  <a:srgbClr val="665C8A"/>
                </a:solidFill>
                <a:latin typeface="华康乾隆行楷 W7"/>
                <a:ea typeface="华康乾隆行楷 W7"/>
                <a:cs typeface="华康乾隆行楷 W7"/>
                <a:sym typeface="华康乾隆行楷 W7"/>
              </a:rPr>
              <a:t>功能演示①</a:t>
            </a:r>
            <a:endParaRPr lang="en-US" sz="1100"/>
          </a:p>
        </p:txBody>
      </p:sp>
      <p:sp>
        <p:nvSpPr>
          <p:cNvPr id="7" name="AutoShape 7"/>
          <p:cNvSpPr/>
          <p:nvPr/>
        </p:nvSpPr>
        <p:spPr>
          <a:xfrm>
            <a:off x="431800" y="571500"/>
            <a:ext cx="31750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665C8A"/>
                </a:solidFill>
                <a:latin typeface="Noto Sans SC"/>
                <a:ea typeface="Noto Sans SC"/>
                <a:cs typeface="Noto Sans SC"/>
                <a:sym typeface="Noto Sans SC"/>
              </a:rPr>
              <a:t>合同智能审查 Demo</a:t>
            </a:r>
            <a:endParaRPr lang="en-US" sz="1100"/>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254000"/>
            <a:ext cx="596900" cy="596900"/>
          </a:xfrm>
          <a:prstGeom prst="rect">
            <a:avLst/>
          </a:prstGeom>
        </p:spPr>
      </p:pic>
      <p:sp>
        <p:nvSpPr>
          <p:cNvPr id="9" name="AutoShape 9"/>
          <p:cNvSpPr/>
          <p:nvPr/>
        </p:nvSpPr>
        <p:spPr>
          <a:xfrm>
            <a:off x="2768600" y="4826000"/>
            <a:ext cx="7086600" cy="1397000"/>
          </a:xfrm>
          <a:prstGeom prst="rect">
            <a:avLst/>
          </a:prstGeom>
          <a:noFill/>
          <a:ln w="12700" cap="flat" cmpd="sng">
            <a:noFill/>
            <a:prstDash val="solid"/>
            <a:round/>
          </a:ln>
        </p:spPr>
        <p:txBody>
          <a:bodyPr vert="horz" wrap="square" lIns="127000" tIns="101600" rIns="127000" bIns="101600" rtlCol="0" anchor="t" anchorCtr="0"/>
          <a:lstStyle/>
          <a:p>
            <a:pPr marL="0" indent="0" algn="l">
              <a:lnSpc>
                <a:spcPct val="116666"/>
              </a:lnSpc>
              <a:defRPr/>
            </a:pPr>
            <a:r>
              <a:rPr lang="en-US" sz="1400" b="1" i="0" u="none" strike="noStrike">
                <a:solidFill>
                  <a:srgbClr val="665C8A"/>
                </a:solidFill>
                <a:latin typeface="Noto Sans SC"/>
                <a:ea typeface="Noto Sans SC"/>
                <a:cs typeface="Noto Sans SC"/>
                <a:sym typeface="Noto Sans SC"/>
              </a:rPr>
              <a:t>智能审查流程：</a:t>
            </a:r>
            <a:r>
              <a:rPr lang="en-US" sz="1400" b="0" i="0" u="none" strike="noStrike">
                <a:solidFill>
                  <a:srgbClr val="333333"/>
                </a:solidFill>
                <a:latin typeface="Noto Sans SC"/>
                <a:ea typeface="Noto Sans SC"/>
                <a:cs typeface="Noto Sans SC"/>
                <a:sym typeface="Noto Sans SC"/>
              </a:rPr>
              <a:t> 支持上传 DOCX/PDF 格式合同，系统自动完成条款拆解与逐条审查。基于NLP与法律知识图谱，精准识别风险点，自动生成包含风险等级标注、针对性修改建议及对应法律依据的完整审查报告，大幅降低人工审核成本与合规风险。</a:t>
            </a:r>
            <a:endParaRPr lang="en-US" sz="1100"/>
          </a:p>
        </p:txBody>
      </p:sp>
      <p:pic>
        <p:nvPicPr>
          <p:cNvPr id="13" name="图片 12">
            <a:extLst>
              <a:ext uri="{FF2B5EF4-FFF2-40B4-BE49-F238E27FC236}">
                <a16:creationId xmlns:a16="http://schemas.microsoft.com/office/drawing/2014/main" id="{9EE1A7DD-9BD5-CE87-461D-B8840831A918}"/>
              </a:ext>
            </a:extLst>
          </p:cNvPr>
          <p:cNvPicPr>
            <a:picLocks noChangeAspect="1"/>
          </p:cNvPicPr>
          <p:nvPr/>
        </p:nvPicPr>
        <p:blipFill>
          <a:blip r:embed="rId4"/>
          <a:stretch>
            <a:fillRect/>
          </a:stretch>
        </p:blipFill>
        <p:spPr>
          <a:xfrm>
            <a:off x="3222593" y="1422400"/>
            <a:ext cx="5746814" cy="3156258"/>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4800" y="0"/>
            <a:ext cx="4749800" cy="6870700"/>
          </a:xfrm>
          <a:prstGeom prst="parallelogram">
            <a:avLst>
              <a:gd name="adj" fmla="val 2500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188200" y="0"/>
            <a:ext cx="4749800" cy="6870700"/>
          </a:xfrm>
          <a:prstGeom prst="parallelogram">
            <a:avLst>
              <a:gd name="adj" fmla="val 2500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35400" y="0"/>
            <a:ext cx="4660900" cy="6870700"/>
          </a:xfrm>
          <a:prstGeom prst="parallelogram">
            <a:avLst>
              <a:gd name="adj" fmla="val 25000"/>
            </a:avLst>
          </a:prstGeom>
          <a:solidFill>
            <a:srgbClr val="7F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816100" y="838200"/>
            <a:ext cx="8902700" cy="5435600"/>
          </a:xfrm>
          <a:prstGeom prst="parallelogram">
            <a:avLst>
              <a:gd name="adj" fmla="val 17610"/>
            </a:avLst>
          </a:prstGeom>
          <a:solidFill>
            <a:srgbClr val="FFFFFF">
              <a:alpha val="100000"/>
            </a:srgbClr>
          </a:solidFill>
          <a:ln w="12700" cap="flat" cmpd="sng">
            <a:solidFill>
              <a:srgbClr val="FFFFFF">
                <a:alpha val="100000"/>
              </a:srgbClr>
            </a:solidFill>
            <a:prstDash val="solid"/>
            <a:miter lim="1000000"/>
          </a:ln>
        </p:spPr>
        <p:txBody>
          <a:bodyPr vert="horz" wrap="square" lIns="63500" tIns="63500" rIns="63500" bIns="63500" rtlCol="0" anchor="ctr"/>
          <a:lstStyle/>
          <a:p>
            <a:pPr algn="ctr">
              <a:defRPr/>
            </a:pPr>
            <a:endParaRPr/>
          </a:p>
        </p:txBody>
      </p:sp>
      <p:sp>
        <p:nvSpPr>
          <p:cNvPr id="6" name="AutoShape 6"/>
          <p:cNvSpPr/>
          <p:nvPr/>
        </p:nvSpPr>
        <p:spPr>
          <a:xfrm>
            <a:off x="304800" y="215900"/>
            <a:ext cx="2286000" cy="520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800" b="0" i="0" u="none" strike="noStrike">
                <a:solidFill>
                  <a:srgbClr val="665C8A"/>
                </a:solidFill>
                <a:latin typeface="华康乾隆行楷 W7"/>
                <a:ea typeface="华康乾隆行楷 W7"/>
                <a:cs typeface="华康乾隆行楷 W7"/>
                <a:sym typeface="华康乾隆行楷 W7"/>
              </a:rPr>
              <a:t>功能演示②</a:t>
            </a:r>
            <a:endParaRPr lang="en-US" sz="1100"/>
          </a:p>
        </p:txBody>
      </p:sp>
      <p:sp>
        <p:nvSpPr>
          <p:cNvPr id="7" name="AutoShape 7"/>
          <p:cNvSpPr/>
          <p:nvPr/>
        </p:nvSpPr>
        <p:spPr>
          <a:xfrm>
            <a:off x="431800" y="571500"/>
            <a:ext cx="33020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665C8A"/>
                </a:solidFill>
                <a:latin typeface="Noto Sans SC"/>
                <a:ea typeface="Noto Sans SC"/>
                <a:cs typeface="Noto Sans SC"/>
                <a:sym typeface="Noto Sans SC"/>
              </a:rPr>
              <a:t>标准合同生成 Demo</a:t>
            </a:r>
            <a:endParaRPr lang="en-US" sz="1100"/>
          </a:p>
        </p:txBody>
      </p:sp>
      <p:sp>
        <p:nvSpPr>
          <p:cNvPr id="8" name="AutoShape 8"/>
          <p:cNvSpPr/>
          <p:nvPr/>
        </p:nvSpPr>
        <p:spPr>
          <a:xfrm>
            <a:off x="2743200" y="1073363"/>
            <a:ext cx="3556000" cy="4318000"/>
          </a:xfrm>
          <a:prstGeom prst="rect">
            <a:avLst/>
          </a:prstGeom>
          <a:noFill/>
          <a:ln w="12700" cap="flat" cmpd="sng">
            <a:noFill/>
            <a:prstDash val="solid"/>
            <a:round/>
          </a:ln>
        </p:spPr>
        <p:txBody>
          <a:bodyPr vert="horz" wrap="square" lIns="127000" tIns="127000" rIns="127000" bIns="127000" rtlCol="0" anchor="t" anchorCtr="0"/>
          <a:lstStyle/>
          <a:p>
            <a:pPr marL="0" indent="0" algn="l">
              <a:lnSpc>
                <a:spcPct val="125000"/>
              </a:lnSpc>
              <a:defRPr/>
            </a:pPr>
            <a:r>
              <a:rPr lang="en-US" sz="1800" b="1" i="0" u="none" strike="noStrike" dirty="0" err="1">
                <a:solidFill>
                  <a:srgbClr val="665C8A"/>
                </a:solidFill>
                <a:latin typeface="Noto Sans SC"/>
                <a:ea typeface="Noto Sans SC"/>
                <a:cs typeface="Noto Sans SC"/>
                <a:sym typeface="Noto Sans SC"/>
              </a:rPr>
              <a:t>智能合同生成闭环流程</a:t>
            </a:r>
            <a:endParaRPr lang="en-US" sz="1100" dirty="0"/>
          </a:p>
          <a:p>
            <a:pPr marL="0" indent="0" algn="l">
              <a:lnSpc>
                <a:spcPct val="116666"/>
              </a:lnSpc>
            </a:pPr>
            <a:r>
              <a:rPr lang="en-US" sz="1400" b="1" i="0" u="none" strike="noStrike" dirty="0">
                <a:solidFill>
                  <a:srgbClr val="333333"/>
                </a:solidFill>
                <a:latin typeface="Noto Sans SC"/>
                <a:ea typeface="Noto Sans SC"/>
                <a:cs typeface="Noto Sans SC"/>
                <a:sym typeface="Noto Sans SC"/>
              </a:rPr>
              <a:t>01 </a:t>
            </a:r>
            <a:r>
              <a:rPr lang="en-US" sz="1400" b="1" i="0" u="none" strike="noStrike" dirty="0" err="1">
                <a:solidFill>
                  <a:srgbClr val="333333"/>
                </a:solidFill>
                <a:latin typeface="Noto Sans SC"/>
                <a:ea typeface="Noto Sans SC"/>
                <a:cs typeface="Noto Sans SC"/>
                <a:sym typeface="Noto Sans SC"/>
              </a:rPr>
              <a:t>智能问答采集</a:t>
            </a:r>
            <a:br>
              <a:rPr lang="en-US" sz="1400" b="0" i="0" u="none" strike="noStrike" dirty="0">
                <a:solidFill>
                  <a:srgbClr val="333333"/>
                </a:solidFill>
                <a:latin typeface="Noto Sans SC"/>
                <a:ea typeface="Noto Sans SC"/>
                <a:cs typeface="Noto Sans SC"/>
                <a:sym typeface="Noto Sans SC"/>
              </a:rPr>
            </a:br>
            <a:r>
              <a:rPr lang="en-US" sz="1300" b="0" i="0" u="none" strike="noStrike" dirty="0" err="1">
                <a:solidFill>
                  <a:srgbClr val="555555"/>
                </a:solidFill>
                <a:latin typeface="Noto Sans SC"/>
                <a:ea typeface="Noto Sans SC"/>
                <a:cs typeface="Noto Sans SC"/>
                <a:sym typeface="Noto Sans SC"/>
              </a:rPr>
              <a:t>通过交互式问答界面，精准提取交易主体、标的、履约期限等核心要素，替代传统繁琐表单填写</a:t>
            </a:r>
            <a:r>
              <a:rPr lang="en-US" sz="1300" b="0" i="0" u="none" strike="noStrike" dirty="0">
                <a:solidFill>
                  <a:srgbClr val="555555"/>
                </a:solidFill>
                <a:latin typeface="Noto Sans SC"/>
                <a:ea typeface="Noto Sans SC"/>
                <a:cs typeface="Noto Sans SC"/>
                <a:sym typeface="Noto Sans SC"/>
              </a:rPr>
              <a:t>。</a:t>
            </a:r>
          </a:p>
          <a:p>
            <a:pPr marL="0" indent="0" algn="l">
              <a:lnSpc>
                <a:spcPct val="116666"/>
              </a:lnSpc>
            </a:pPr>
            <a:r>
              <a:rPr lang="en-US" sz="1400" b="1" i="0" u="none" strike="noStrike" dirty="0">
                <a:solidFill>
                  <a:srgbClr val="333333"/>
                </a:solidFill>
                <a:latin typeface="Noto Sans SC"/>
                <a:ea typeface="Noto Sans SC"/>
                <a:cs typeface="Noto Sans SC"/>
                <a:sym typeface="Noto Sans SC"/>
              </a:rPr>
              <a:t>02 LLM </a:t>
            </a:r>
            <a:r>
              <a:rPr lang="en-US" sz="1400" b="1" i="0" u="none" strike="noStrike" dirty="0" err="1">
                <a:solidFill>
                  <a:srgbClr val="333333"/>
                </a:solidFill>
                <a:latin typeface="Noto Sans SC"/>
                <a:ea typeface="Noto Sans SC"/>
                <a:cs typeface="Noto Sans SC"/>
                <a:sym typeface="Noto Sans SC"/>
              </a:rPr>
              <a:t>动态生成</a:t>
            </a:r>
            <a:br>
              <a:rPr lang="en-US" sz="1400" b="0" i="0" u="none" strike="noStrike" dirty="0">
                <a:solidFill>
                  <a:srgbClr val="333333"/>
                </a:solidFill>
                <a:latin typeface="Noto Sans SC"/>
                <a:ea typeface="Noto Sans SC"/>
                <a:cs typeface="Noto Sans SC"/>
                <a:sym typeface="Noto Sans SC"/>
              </a:rPr>
            </a:br>
            <a:r>
              <a:rPr lang="en-US" sz="1300" b="0" i="0" u="none" strike="noStrike" dirty="0" err="1">
                <a:solidFill>
                  <a:srgbClr val="555555"/>
                </a:solidFill>
                <a:latin typeface="Noto Sans SC"/>
                <a:ea typeface="Noto Sans SC"/>
                <a:cs typeface="Noto Sans SC"/>
                <a:sym typeface="Noto Sans SC"/>
              </a:rPr>
              <a:t>基于采集要素，大模型实时生成符合行业规范的合同正文，适配不同业务场景的个性化需求</a:t>
            </a:r>
            <a:r>
              <a:rPr lang="en-US" sz="1300" b="0" i="0" u="none" strike="noStrike" dirty="0">
                <a:solidFill>
                  <a:srgbClr val="555555"/>
                </a:solidFill>
                <a:latin typeface="Noto Sans SC"/>
                <a:ea typeface="Noto Sans SC"/>
                <a:cs typeface="Noto Sans SC"/>
                <a:sym typeface="Noto Sans SC"/>
              </a:rPr>
              <a:t>。</a:t>
            </a:r>
          </a:p>
          <a:p>
            <a:pPr marL="0" indent="0" algn="l">
              <a:lnSpc>
                <a:spcPct val="116666"/>
              </a:lnSpc>
            </a:pPr>
            <a:r>
              <a:rPr lang="en-US" sz="1400" b="1" i="0" u="none" strike="noStrike" dirty="0">
                <a:solidFill>
                  <a:srgbClr val="333333"/>
                </a:solidFill>
                <a:latin typeface="Noto Sans SC"/>
                <a:ea typeface="Noto Sans SC"/>
                <a:cs typeface="Noto Sans SC"/>
                <a:sym typeface="Noto Sans SC"/>
              </a:rPr>
              <a:t>03 </a:t>
            </a:r>
            <a:r>
              <a:rPr lang="en-US" sz="1400" b="1" i="0" u="none" strike="noStrike" dirty="0" err="1">
                <a:solidFill>
                  <a:srgbClr val="333333"/>
                </a:solidFill>
                <a:latin typeface="Noto Sans SC"/>
                <a:ea typeface="Noto Sans SC"/>
                <a:cs typeface="Noto Sans SC"/>
                <a:sym typeface="Noto Sans SC"/>
              </a:rPr>
              <a:t>合规规则自检</a:t>
            </a:r>
            <a:br>
              <a:rPr lang="en-US" sz="1400" b="0" i="0" u="none" strike="noStrike" dirty="0">
                <a:solidFill>
                  <a:srgbClr val="333333"/>
                </a:solidFill>
                <a:latin typeface="Noto Sans SC"/>
                <a:ea typeface="Noto Sans SC"/>
                <a:cs typeface="Noto Sans SC"/>
                <a:sym typeface="Noto Sans SC"/>
              </a:rPr>
            </a:br>
            <a:r>
              <a:rPr lang="en-US" sz="1300" b="0" i="0" u="none" strike="noStrike" dirty="0" err="1">
                <a:solidFill>
                  <a:srgbClr val="555555"/>
                </a:solidFill>
                <a:latin typeface="Noto Sans SC"/>
                <a:ea typeface="Noto Sans SC"/>
                <a:cs typeface="Noto Sans SC"/>
                <a:sym typeface="Noto Sans SC"/>
              </a:rPr>
              <a:t>内置法律规则库，自动校验必备条款完整性，规避关键条款缺失与合规风险</a:t>
            </a:r>
            <a:r>
              <a:rPr lang="en-US" sz="1300" b="0" i="0" u="none" strike="noStrike" dirty="0">
                <a:solidFill>
                  <a:srgbClr val="555555"/>
                </a:solidFill>
                <a:latin typeface="Noto Sans SC"/>
                <a:ea typeface="Noto Sans SC"/>
                <a:cs typeface="Noto Sans SC"/>
                <a:sym typeface="Noto Sans SC"/>
              </a:rPr>
              <a:t>。</a:t>
            </a:r>
          </a:p>
        </p:txBody>
      </p:sp>
      <p:sp>
        <p:nvSpPr>
          <p:cNvPr id="9" name="AutoShape 9"/>
          <p:cNvSpPr/>
          <p:nvPr/>
        </p:nvSpPr>
        <p:spPr>
          <a:xfrm>
            <a:off x="6797553" y="4383242"/>
            <a:ext cx="2781300" cy="50834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200" b="0" i="0" u="none" strike="noStrike" dirty="0" err="1">
                <a:solidFill>
                  <a:srgbClr val="7F76A3"/>
                </a:solidFill>
                <a:latin typeface="Noto Sans SC"/>
                <a:ea typeface="Noto Sans SC"/>
                <a:cs typeface="Noto Sans SC"/>
                <a:sym typeface="Noto Sans SC"/>
              </a:rPr>
              <a:t>图示：智能合同生成工作台界面，支持实时预览与一键导出</a:t>
            </a:r>
            <a:endParaRPr lang="en-US" sz="1100" dirty="0"/>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254000"/>
            <a:ext cx="596900" cy="596900"/>
          </a:xfrm>
          <a:prstGeom prst="rect">
            <a:avLst/>
          </a:prstGeom>
        </p:spPr>
      </p:pic>
      <p:pic>
        <p:nvPicPr>
          <p:cNvPr id="12" name="图片 11">
            <a:extLst>
              <a:ext uri="{FF2B5EF4-FFF2-40B4-BE49-F238E27FC236}">
                <a16:creationId xmlns:a16="http://schemas.microsoft.com/office/drawing/2014/main" id="{B965B77B-4C9B-F545-202D-BB1B1B734F59}"/>
              </a:ext>
            </a:extLst>
          </p:cNvPr>
          <p:cNvPicPr>
            <a:picLocks noChangeAspect="1"/>
          </p:cNvPicPr>
          <p:nvPr/>
        </p:nvPicPr>
        <p:blipFill>
          <a:blip r:embed="rId4"/>
          <a:stretch>
            <a:fillRect/>
          </a:stretch>
        </p:blipFill>
        <p:spPr>
          <a:xfrm>
            <a:off x="6525754" y="1980140"/>
            <a:ext cx="3581477" cy="173269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4800" y="0"/>
            <a:ext cx="4749800" cy="6870700"/>
          </a:xfrm>
          <a:prstGeom prst="parallelogram">
            <a:avLst>
              <a:gd name="adj" fmla="val 2500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188200" y="0"/>
            <a:ext cx="4749800" cy="6870700"/>
          </a:xfrm>
          <a:prstGeom prst="parallelogram">
            <a:avLst>
              <a:gd name="adj" fmla="val 2500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35400" y="0"/>
            <a:ext cx="4660900" cy="6870700"/>
          </a:xfrm>
          <a:prstGeom prst="parallelogram">
            <a:avLst>
              <a:gd name="adj" fmla="val 25000"/>
            </a:avLst>
          </a:prstGeom>
          <a:solidFill>
            <a:srgbClr val="7F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816100" y="838200"/>
            <a:ext cx="8902700" cy="5435600"/>
          </a:xfrm>
          <a:prstGeom prst="parallelogram">
            <a:avLst>
              <a:gd name="adj" fmla="val 17610"/>
            </a:avLst>
          </a:prstGeom>
          <a:solidFill>
            <a:srgbClr val="FFFFFF">
              <a:alpha val="100000"/>
            </a:srgbClr>
          </a:solidFill>
          <a:ln w="12700" cap="flat" cmpd="sng">
            <a:solidFill>
              <a:srgbClr val="FFFFFF">
                <a:alpha val="100000"/>
              </a:srgbClr>
            </a:solidFill>
            <a:prstDash val="solid"/>
            <a:miter lim="1000000"/>
          </a:ln>
        </p:spPr>
        <p:txBody>
          <a:bodyPr vert="horz" wrap="square" lIns="63500" tIns="63500" rIns="63500" bIns="63500" rtlCol="0" anchor="ctr"/>
          <a:lstStyle/>
          <a:p>
            <a:pPr algn="ctr">
              <a:defRPr/>
            </a:pPr>
            <a:endParaRPr/>
          </a:p>
        </p:txBody>
      </p:sp>
      <p:sp>
        <p:nvSpPr>
          <p:cNvPr id="6" name="AutoShape 6"/>
          <p:cNvSpPr/>
          <p:nvPr/>
        </p:nvSpPr>
        <p:spPr>
          <a:xfrm>
            <a:off x="304800" y="215900"/>
            <a:ext cx="2540000" cy="520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800" b="0" i="0" u="none" strike="noStrike">
                <a:solidFill>
                  <a:srgbClr val="665C8A"/>
                </a:solidFill>
                <a:latin typeface="华康乾隆行楷 W7"/>
                <a:ea typeface="华康乾隆行楷 W7"/>
                <a:cs typeface="华康乾隆行楷 W7"/>
                <a:sym typeface="华康乾隆行楷 W7"/>
              </a:rPr>
              <a:t>功能演示③</a:t>
            </a:r>
            <a:endParaRPr lang="en-US" sz="1100"/>
          </a:p>
        </p:txBody>
      </p:sp>
      <p:sp>
        <p:nvSpPr>
          <p:cNvPr id="7" name="AutoShape 7"/>
          <p:cNvSpPr/>
          <p:nvPr/>
        </p:nvSpPr>
        <p:spPr>
          <a:xfrm>
            <a:off x="431800" y="571500"/>
            <a:ext cx="50800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665C8A"/>
                </a:solidFill>
                <a:latin typeface="Noto Sans SC"/>
                <a:ea typeface="Noto Sans SC"/>
                <a:cs typeface="Noto Sans SC"/>
                <a:sym typeface="Noto Sans SC"/>
              </a:rPr>
              <a:t>条款比对 + 合规检查 Demo</a:t>
            </a:r>
            <a:endParaRPr lang="en-US" sz="1100"/>
          </a:p>
        </p:txBody>
      </p:sp>
      <p:sp>
        <p:nvSpPr>
          <p:cNvPr id="8" name="AutoShape 8"/>
          <p:cNvSpPr/>
          <p:nvPr/>
        </p:nvSpPr>
        <p:spPr>
          <a:xfrm>
            <a:off x="2768600" y="1079500"/>
            <a:ext cx="6985000" cy="1016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6666"/>
              </a:lnSpc>
              <a:defRPr/>
            </a:pPr>
            <a:r>
              <a:rPr lang="en-US" sz="1400" b="1" i="0" u="none" strike="noStrike">
                <a:solidFill>
                  <a:srgbClr val="665C8A"/>
                </a:solidFill>
                <a:latin typeface="Noto Sans SC"/>
                <a:ea typeface="Noto Sans SC"/>
                <a:cs typeface="Noto Sans SC"/>
                <a:sym typeface="Noto Sans SC"/>
              </a:rPr>
              <a:t>智能比对与合规风控：</a:t>
            </a:r>
            <a:r>
              <a:rPr lang="en-US" sz="1400" b="0" i="0" u="none" strike="noStrike">
                <a:solidFill>
                  <a:srgbClr val="505050"/>
                </a:solidFill>
                <a:latin typeface="Noto Sans SC"/>
                <a:ea typeface="Noto Sans SC"/>
                <a:cs typeface="Noto Sans SC"/>
                <a:sym typeface="Noto Sans SC"/>
              </a:rPr>
              <a:t> 系统支持合同新旧版本的条款级精准Diff，自动识别语义变更与逻辑冲突；内置GDPR、《数据安全法》《个人信息保护法》等权威法规库，一键扫描条款合规性，生成可视化风险报告与整改建议。</a:t>
            </a:r>
            <a:endParaRPr lang="en-US" sz="110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254000"/>
            <a:ext cx="596900" cy="596900"/>
          </a:xfrm>
          <a:prstGeom prst="rect">
            <a:avLst/>
          </a:prstGeom>
        </p:spPr>
      </p:pic>
      <p:pic>
        <p:nvPicPr>
          <p:cNvPr id="11" name="图片 10">
            <a:extLst>
              <a:ext uri="{FF2B5EF4-FFF2-40B4-BE49-F238E27FC236}">
                <a16:creationId xmlns:a16="http://schemas.microsoft.com/office/drawing/2014/main" id="{3CC551C1-3B80-CC1C-9A41-E6BB7C527039}"/>
              </a:ext>
            </a:extLst>
          </p:cNvPr>
          <p:cNvPicPr>
            <a:picLocks noChangeAspect="1"/>
          </p:cNvPicPr>
          <p:nvPr/>
        </p:nvPicPr>
        <p:blipFill>
          <a:blip r:embed="rId4"/>
          <a:stretch>
            <a:fillRect/>
          </a:stretch>
        </p:blipFill>
        <p:spPr>
          <a:xfrm>
            <a:off x="3027715" y="2086045"/>
            <a:ext cx="6276270" cy="3388737"/>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4800" y="0"/>
            <a:ext cx="4749800" cy="6870700"/>
          </a:xfrm>
          <a:prstGeom prst="parallelogram">
            <a:avLst>
              <a:gd name="adj" fmla="val 2500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188200" y="0"/>
            <a:ext cx="4749800" cy="6870700"/>
          </a:xfrm>
          <a:prstGeom prst="parallelogram">
            <a:avLst>
              <a:gd name="adj" fmla="val 2500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3835400" y="0"/>
            <a:ext cx="4660900" cy="6870700"/>
          </a:xfrm>
          <a:prstGeom prst="parallelogram">
            <a:avLst>
              <a:gd name="adj" fmla="val 25000"/>
            </a:avLst>
          </a:prstGeom>
          <a:solidFill>
            <a:srgbClr val="7F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816100" y="838200"/>
            <a:ext cx="8902700" cy="5435600"/>
          </a:xfrm>
          <a:prstGeom prst="parallelogram">
            <a:avLst>
              <a:gd name="adj" fmla="val 17610"/>
            </a:avLst>
          </a:prstGeom>
          <a:solidFill>
            <a:srgbClr val="FFFFFF">
              <a:alpha val="100000"/>
            </a:srgbClr>
          </a:solidFill>
          <a:ln w="12700" cap="flat" cmpd="sng">
            <a:solidFill>
              <a:srgbClr val="FFFFFF">
                <a:alpha val="100000"/>
              </a:srgbClr>
            </a:solidFill>
            <a:prstDash val="solid"/>
            <a:miter lim="1000000"/>
          </a:ln>
        </p:spPr>
        <p:txBody>
          <a:bodyPr vert="horz" wrap="square" lIns="63500" tIns="63500" rIns="63500" bIns="63500" rtlCol="0" anchor="ctr"/>
          <a:lstStyle/>
          <a:p>
            <a:pPr algn="ctr">
              <a:defRPr/>
            </a:pPr>
            <a:endParaRPr/>
          </a:p>
        </p:txBody>
      </p:sp>
      <p:sp>
        <p:nvSpPr>
          <p:cNvPr id="6" name="AutoShape 6"/>
          <p:cNvSpPr/>
          <p:nvPr/>
        </p:nvSpPr>
        <p:spPr>
          <a:xfrm>
            <a:off x="304800" y="215900"/>
            <a:ext cx="2286000" cy="520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800" b="0" i="0" u="none" strike="noStrike">
                <a:solidFill>
                  <a:srgbClr val="665C8A"/>
                </a:solidFill>
                <a:latin typeface="华康乾隆行楷 W7"/>
                <a:ea typeface="华康乾隆行楷 W7"/>
                <a:cs typeface="华康乾隆行楷 W7"/>
                <a:sym typeface="华康乾隆行楷 W7"/>
              </a:rPr>
              <a:t>功能演示④</a:t>
            </a:r>
            <a:endParaRPr lang="en-US" sz="1100"/>
          </a:p>
        </p:txBody>
      </p:sp>
      <p:sp>
        <p:nvSpPr>
          <p:cNvPr id="7" name="AutoShape 7"/>
          <p:cNvSpPr/>
          <p:nvPr/>
        </p:nvSpPr>
        <p:spPr>
          <a:xfrm>
            <a:off x="431800" y="571500"/>
            <a:ext cx="40640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665C8A"/>
                </a:solidFill>
                <a:latin typeface="Noto Sans SC"/>
                <a:ea typeface="Noto Sans SC"/>
                <a:cs typeface="Noto Sans SC"/>
                <a:sym typeface="Noto Sans SC"/>
              </a:rPr>
              <a:t>智能问答 + 知识库管理 Demo</a:t>
            </a:r>
            <a:endParaRPr lang="en-US" sz="1100"/>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254000"/>
            <a:ext cx="596900" cy="596900"/>
          </a:xfrm>
          <a:prstGeom prst="rect">
            <a:avLst/>
          </a:prstGeom>
        </p:spPr>
      </p:pic>
      <p:sp>
        <p:nvSpPr>
          <p:cNvPr id="9" name="AutoShape 9"/>
          <p:cNvSpPr/>
          <p:nvPr/>
        </p:nvSpPr>
        <p:spPr>
          <a:xfrm>
            <a:off x="2768600" y="4953000"/>
            <a:ext cx="7086600" cy="1270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6666"/>
              </a:lnSpc>
              <a:defRPr/>
            </a:pPr>
            <a:r>
              <a:rPr lang="en-US" sz="1400" b="1" i="0" u="none" strike="noStrike">
                <a:solidFill>
                  <a:srgbClr val="665C8A"/>
                </a:solidFill>
                <a:latin typeface="Noto Sans SC"/>
                <a:ea typeface="Noto Sans SC"/>
                <a:cs typeface="Noto Sans SC"/>
                <a:sym typeface="Noto Sans SC"/>
              </a:rPr>
              <a:t>◆ 智能问答交互：</a:t>
            </a:r>
            <a:r>
              <a:rPr lang="en-US" sz="1400" b="0" i="0" u="none" strike="noStrike">
                <a:solidFill>
                  <a:srgbClr val="1F2329"/>
                </a:solidFill>
                <a:latin typeface="Noto Sans SC"/>
                <a:ea typeface="Noto Sans SC"/>
                <a:cs typeface="Noto Sans SC"/>
                <a:sym typeface="Noto Sans SC"/>
              </a:rPr>
              <a:t> Agent 自主判定检索范围（条款库/法规库），支持多轮流式对话，精准理解上下文并输出专业合规的解答。</a:t>
            </a:r>
            <a:endParaRPr lang="en-US" sz="1100"/>
          </a:p>
          <a:p>
            <a:pPr marL="0" indent="0" algn="l">
              <a:lnSpc>
                <a:spcPct val="116666"/>
              </a:lnSpc>
            </a:pPr>
            <a:r>
              <a:rPr lang="en-US" sz="1400" b="1" i="0" u="none" strike="noStrike">
                <a:solidFill>
                  <a:srgbClr val="665C8A"/>
                </a:solidFill>
                <a:latin typeface="Noto Sans SC"/>
                <a:ea typeface="Noto Sans SC"/>
                <a:cs typeface="Noto Sans SC"/>
                <a:sym typeface="Noto Sans SC"/>
              </a:rPr>
              <a:t>◆ 知识库高效运维：</a:t>
            </a:r>
            <a:r>
              <a:rPr lang="en-US" sz="1400" b="0" i="0" u="none" strike="noStrike">
                <a:solidFill>
                  <a:srgbClr val="1F2329"/>
                </a:solidFill>
                <a:latin typeface="Noto Sans SC"/>
                <a:ea typeface="Noto Sans SC"/>
                <a:cs typeface="Noto Sans SC"/>
                <a:sym typeface="Noto Sans SC"/>
              </a:rPr>
              <a:t> 支持法规条款全量CRUD管理，配置“一键重建向量索引”功能，确保知识更新即时生效，保障检索准确性。</a:t>
            </a:r>
          </a:p>
        </p:txBody>
      </p:sp>
      <p:pic>
        <p:nvPicPr>
          <p:cNvPr id="11" name="图片 10">
            <a:extLst>
              <a:ext uri="{FF2B5EF4-FFF2-40B4-BE49-F238E27FC236}">
                <a16:creationId xmlns:a16="http://schemas.microsoft.com/office/drawing/2014/main" id="{70F983BE-DE3F-231F-B195-8E2CEE0413EA}"/>
              </a:ext>
            </a:extLst>
          </p:cNvPr>
          <p:cNvPicPr>
            <a:picLocks noChangeAspect="1"/>
          </p:cNvPicPr>
          <p:nvPr/>
        </p:nvPicPr>
        <p:blipFill>
          <a:blip r:embed="rId4"/>
          <a:stretch>
            <a:fillRect/>
          </a:stretch>
        </p:blipFill>
        <p:spPr>
          <a:xfrm>
            <a:off x="3000950" y="1463824"/>
            <a:ext cx="6386392" cy="3074543"/>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333500" y="4445"/>
            <a:ext cx="609600" cy="2413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60400" y="4445"/>
            <a:ext cx="609600" cy="2413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4445"/>
            <a:ext cx="609600" cy="241300"/>
          </a:xfrm>
          <a:prstGeom prst="roundRect">
            <a:avLst>
              <a:gd name="adj" fmla="val 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700" y="1879600"/>
            <a:ext cx="12204700" cy="34544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5016499" y="2501900"/>
            <a:ext cx="6603999" cy="9271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6000" b="0" i="0" u="none" strike="noStrike" dirty="0" err="1">
                <a:solidFill>
                  <a:srgbClr val="FFFFFF"/>
                </a:solidFill>
                <a:latin typeface="华康乾隆行楷 W7"/>
                <a:ea typeface="华康乾隆行楷 W7"/>
                <a:cs typeface="华康乾隆行楷 W7"/>
                <a:sym typeface="华康乾隆行楷 W7"/>
              </a:rPr>
              <a:t>感谢老师的指导</a:t>
            </a:r>
            <a:r>
              <a:rPr lang="en-US" sz="6000" b="0" i="0" u="none" strike="noStrike" dirty="0">
                <a:solidFill>
                  <a:srgbClr val="FFFFFF"/>
                </a:solidFill>
                <a:latin typeface="华康乾隆行楷 W7"/>
                <a:ea typeface="华康乾隆行楷 W7"/>
                <a:cs typeface="华康乾隆行楷 W7"/>
                <a:sym typeface="华康乾隆行楷 W7"/>
              </a:rPr>
              <a:t>！</a:t>
            </a:r>
            <a:endParaRPr lang="en-US" sz="1100" dirty="0"/>
          </a:p>
        </p:txBody>
      </p:sp>
      <p:sp>
        <p:nvSpPr>
          <p:cNvPr id="7" name="AutoShape 7"/>
          <p:cNvSpPr/>
          <p:nvPr/>
        </p:nvSpPr>
        <p:spPr>
          <a:xfrm>
            <a:off x="5429250" y="3606800"/>
            <a:ext cx="5346700" cy="3683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0" i="0" u="none" strike="noStrike" dirty="0">
                <a:solidFill>
                  <a:srgbClr val="FFFFFF"/>
                </a:solidFill>
                <a:latin typeface="Arial"/>
                <a:ea typeface="Arial"/>
                <a:cs typeface="Arial"/>
                <a:sym typeface="Arial"/>
              </a:rPr>
              <a:t>Thanks for watching</a:t>
            </a:r>
            <a:r>
              <a:rPr lang="en-US" sz="1600" b="0" i="0" u="none" strike="noStrike" dirty="0">
                <a:solidFill>
                  <a:srgbClr val="1F2329"/>
                </a:solidFill>
                <a:latin typeface="Noto Sans SC"/>
                <a:ea typeface="Noto Sans SC"/>
                <a:cs typeface="Noto Sans SC"/>
                <a:sym typeface="Noto Sans SC"/>
              </a:rPr>
              <a:t> </a:t>
            </a:r>
            <a:r>
              <a:rPr lang="en-US" sz="1800" b="0" i="0" u="none" strike="noStrike" dirty="0">
                <a:solidFill>
                  <a:srgbClr val="FFFFFF"/>
                </a:solidFill>
                <a:latin typeface="微软雅黑"/>
                <a:ea typeface="微软雅黑"/>
                <a:cs typeface="微软雅黑"/>
                <a:sym typeface="微软雅黑"/>
              </a:rPr>
              <a:t>！！！</a:t>
            </a:r>
            <a:endParaRPr lang="en-US" sz="1100" dirty="0"/>
          </a:p>
        </p:txBody>
      </p:sp>
      <p:sp>
        <p:nvSpPr>
          <p:cNvPr id="8" name="AutoShape 8"/>
          <p:cNvSpPr/>
          <p:nvPr/>
        </p:nvSpPr>
        <p:spPr>
          <a:xfrm>
            <a:off x="4572000" y="4337050"/>
            <a:ext cx="6604000" cy="635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8333"/>
              </a:lnSpc>
              <a:defRPr/>
            </a:pPr>
            <a:r>
              <a:rPr lang="en-US" sz="1400" b="0" i="0" u="none" strike="noStrike" dirty="0" err="1">
                <a:solidFill>
                  <a:srgbClr val="FFFFFF">
                    <a:alpha val="90196"/>
                  </a:srgbClr>
                </a:solidFill>
                <a:latin typeface="Noto Sans SC"/>
                <a:ea typeface="Noto Sans SC"/>
                <a:cs typeface="Noto Sans SC"/>
                <a:sym typeface="Noto Sans SC"/>
              </a:rPr>
              <a:t>项目名称：智能法律合同审查与生成系统</a:t>
            </a:r>
            <a:br>
              <a:rPr lang="en-US" sz="1400" b="0" i="0" u="none" strike="noStrike" dirty="0">
                <a:solidFill>
                  <a:srgbClr val="FFFFFF">
                    <a:alpha val="90196"/>
                  </a:srgbClr>
                </a:solidFill>
                <a:latin typeface="Noto Sans SC"/>
                <a:ea typeface="Noto Sans SC"/>
                <a:cs typeface="Noto Sans SC"/>
                <a:sym typeface="Noto Sans SC"/>
              </a:rPr>
            </a:br>
            <a:r>
              <a:rPr lang="en-US" sz="1400" b="0" i="0" u="none" strike="noStrike" dirty="0" err="1">
                <a:solidFill>
                  <a:srgbClr val="FFFFFF">
                    <a:alpha val="90196"/>
                  </a:srgbClr>
                </a:solidFill>
                <a:latin typeface="Noto Sans SC"/>
                <a:ea typeface="Noto Sans SC"/>
                <a:cs typeface="Noto Sans SC"/>
                <a:sym typeface="Noto Sans SC"/>
              </a:rPr>
              <a:t>联合单位：西北工业大学</a:t>
            </a:r>
            <a:r>
              <a:rPr lang="en-US" sz="1400" b="0" i="0" u="none" strike="noStrike" dirty="0">
                <a:solidFill>
                  <a:srgbClr val="FFFFFF">
                    <a:alpha val="90196"/>
                  </a:srgbClr>
                </a:solidFill>
                <a:latin typeface="Noto Sans SC"/>
                <a:ea typeface="Noto Sans SC"/>
                <a:cs typeface="Noto Sans SC"/>
                <a:sym typeface="Noto Sans SC"/>
              </a:rPr>
              <a:t> ｜ </a:t>
            </a:r>
            <a:r>
              <a:rPr lang="en-US" sz="1400" b="0" i="0" u="none" strike="noStrike" dirty="0" err="1">
                <a:solidFill>
                  <a:srgbClr val="FFFFFF">
                    <a:alpha val="90196"/>
                  </a:srgbClr>
                </a:solidFill>
                <a:latin typeface="Noto Sans SC"/>
                <a:ea typeface="Noto Sans SC"/>
                <a:cs typeface="Noto Sans SC"/>
                <a:sym typeface="Noto Sans SC"/>
              </a:rPr>
              <a:t>四川华迪信息技术有限公司</a:t>
            </a:r>
            <a:endParaRPr lang="en-US" sz="1100" dirty="0"/>
          </a:p>
        </p:txBody>
      </p:sp>
      <p:sp>
        <p:nvSpPr>
          <p:cNvPr id="9" name="AutoShape 9"/>
          <p:cNvSpPr/>
          <p:nvPr/>
        </p:nvSpPr>
        <p:spPr>
          <a:xfrm>
            <a:off x="9080500" y="6210300"/>
            <a:ext cx="3048000" cy="304800"/>
          </a:xfrm>
          <a:prstGeom prst="rect">
            <a:avLst/>
          </a:prstGeom>
          <a:noFill/>
          <a:ln w="12700" cap="flat" cmpd="sng">
            <a:noFill/>
            <a:prstDash val="solid"/>
            <a:round/>
          </a:ln>
        </p:spPr>
        <p:txBody>
          <a:bodyPr vert="horz" wrap="square" lIns="88900" tIns="50800" rIns="88900" bIns="50800" rtlCol="0" anchor="t" anchorCtr="0"/>
          <a:lstStyle/>
          <a:p>
            <a:pPr marL="0" indent="0" algn="r">
              <a:lnSpc>
                <a:spcPct val="100000"/>
              </a:lnSpc>
              <a:defRPr/>
            </a:pPr>
            <a:r>
              <a:rPr lang="en-US" sz="1400" b="1" i="0" u="none" strike="noStrike">
                <a:solidFill>
                  <a:srgbClr val="665C8A"/>
                </a:solidFill>
                <a:latin typeface="微软雅黑"/>
                <a:ea typeface="微软雅黑"/>
                <a:cs typeface="微软雅黑"/>
                <a:sym typeface="微软雅黑"/>
              </a:rPr>
              <a:t>软件工程6组</a:t>
            </a:r>
            <a:endParaRPr lang="en-US" sz="1100"/>
          </a:p>
        </p:txBody>
      </p:sp>
      <p:sp>
        <p:nvSpPr>
          <p:cNvPr id="10" name="AutoShape 10"/>
          <p:cNvSpPr/>
          <p:nvPr/>
        </p:nvSpPr>
        <p:spPr>
          <a:xfrm>
            <a:off x="8394700" y="6743700"/>
            <a:ext cx="3822700" cy="127000"/>
          </a:xfrm>
          <a:prstGeom prst="roundRect">
            <a:avLst>
              <a:gd name="adj" fmla="val 0"/>
            </a:avLst>
          </a:prstGeom>
          <a:solidFill>
            <a:srgbClr val="CCC8D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191000" y="6743700"/>
            <a:ext cx="3822700" cy="127000"/>
          </a:xfrm>
          <a:prstGeom prst="roundRect">
            <a:avLst>
              <a:gd name="adj" fmla="val 0"/>
            </a:avLst>
          </a:prstGeom>
          <a:solidFill>
            <a:srgbClr val="8076A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2700" y="6743700"/>
            <a:ext cx="3822700" cy="127000"/>
          </a:xfrm>
          <a:prstGeom prst="roundRect">
            <a:avLst>
              <a:gd name="adj" fmla="val 0"/>
            </a:avLst>
          </a:prstGeom>
          <a:solidFill>
            <a:srgbClr val="665C8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016000" y="2108200"/>
            <a:ext cx="2997200" cy="2997200"/>
          </a:xfrm>
          <a:prstGeom prst="ellipse">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8100" y="2374900"/>
            <a:ext cx="2425700" cy="2425700"/>
          </a:xfrm>
          <a:prstGeom prst="rect">
            <a:avLst/>
          </a:prstGeom>
        </p:spPr>
      </p:pic>
      <p:sp>
        <p:nvSpPr>
          <p:cNvPr id="15" name="AutoShape 15"/>
          <p:cNvSpPr/>
          <p:nvPr/>
        </p:nvSpPr>
        <p:spPr>
          <a:xfrm>
            <a:off x="508000" y="342900"/>
            <a:ext cx="3556000" cy="342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600" b="1" i="0" u="none" strike="noStrike">
                <a:solidFill>
                  <a:srgbClr val="665C8A"/>
                </a:solidFill>
                <a:latin typeface="微软雅黑"/>
                <a:ea typeface="微软雅黑"/>
                <a:cs typeface="微软雅黑"/>
                <a:sym typeface="微软雅黑"/>
              </a:rPr>
              <a:t>项目答辩汇报</a:t>
            </a:r>
            <a:endParaRPr lang="en-US" sz="1100"/>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 y="266700"/>
            <a:ext cx="419100" cy="419100"/>
          </a:xfrm>
          <a:prstGeom prst="rect">
            <a:avLst/>
          </a:prstGeom>
        </p:spPr>
      </p:pic>
      <p:pic>
        <p:nvPicPr>
          <p:cNvPr id="17" name="Picture 17"/>
          <p:cNvPicPr>
            <a:picLocks noChangeAspect="1"/>
          </p:cNvPicPr>
          <p:nvPr/>
        </p:nvPicPr>
        <p:blipFill>
          <a:blip r:embed="rId5"/>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1275</Words>
  <Application>Microsoft Office PowerPoint</Application>
  <PresentationFormat>宽屏</PresentationFormat>
  <Paragraphs>227</Paragraphs>
  <Slides>20</Slides>
  <Notes>20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20</vt:i4>
      </vt:variant>
    </vt:vector>
  </HeadingPairs>
  <TitlesOfParts>
    <vt:vector size="28" baseType="lpstr">
      <vt:lpstr>Noto Sans SC</vt:lpstr>
      <vt:lpstr>Songti SC</vt:lpstr>
      <vt:lpstr>SimHei</vt:lpstr>
      <vt:lpstr>华康乾隆行楷 W7</vt:lpstr>
      <vt:lpstr>微软雅黑</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言锐 彭</cp:lastModifiedBy>
  <cp:revision>1</cp:revision>
  <dcterms:modified xsi:type="dcterms:W3CDTF">2026-09-10T04:58:34Z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{"Label":"1","ContentProducer":"001191110102MACQD9K64010000","ProduceID":"7683763830514666674","ReservedCode1":"","ContentPropagator":"","PropagateID":"","ReservedCode2":""}</vt:lpwstr>
  </property>
</Properties>
</file>